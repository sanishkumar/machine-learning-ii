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2" r:id="rId16"/>
    <p:sldId id="295" r:id="rId17"/>
    <p:sldId id="273" r:id="rId18"/>
    <p:sldId id="274" r:id="rId19"/>
    <p:sldId id="275" r:id="rId20"/>
    <p:sldId id="276" r:id="rId21"/>
    <p:sldId id="277" r:id="rId22"/>
    <p:sldId id="296" r:id="rId23"/>
    <p:sldId id="278" r:id="rId24"/>
    <p:sldId id="279" r:id="rId25"/>
    <p:sldId id="280" r:id="rId26"/>
    <p:sldId id="281" r:id="rId27"/>
    <p:sldId id="282" r:id="rId28"/>
    <p:sldId id="283" r:id="rId29"/>
    <p:sldId id="284" r:id="rId30"/>
    <p:sldId id="285" r:id="rId31"/>
    <p:sldId id="286" r:id="rId32"/>
    <p:sldId id="288" r:id="rId33"/>
    <p:sldId id="289" r:id="rId34"/>
    <p:sldId id="290" r:id="rId35"/>
    <p:sldId id="291" r:id="rId36"/>
    <p:sldId id="292" r:id="rId37"/>
    <p:sldId id="293" r:id="rId38"/>
    <p:sldId id="302" r:id="rId39"/>
    <p:sldId id="297" r:id="rId40"/>
    <p:sldId id="303" r:id="rId41"/>
    <p:sldId id="298" r:id="rId42"/>
    <p:sldId id="299" r:id="rId43"/>
    <p:sldId id="300" r:id="rId44"/>
    <p:sldId id="301" r:id="rId45"/>
    <p:sldId id="304" r:id="rId46"/>
    <p:sldId id="305" r:id="rId47"/>
    <p:sldId id="29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F0184-EBB7-4342-9CF8-055F71AE3D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A1DC43C-B040-4701-9387-1EE2AD586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20F96212-38BC-461D-A03F-33CDC5E2574B}"/>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5" name="Footer Placeholder 4">
            <a:extLst>
              <a:ext uri="{FF2B5EF4-FFF2-40B4-BE49-F238E27FC236}">
                <a16:creationId xmlns:a16="http://schemas.microsoft.com/office/drawing/2014/main" xmlns="" id="{72AB4FA2-4841-4630-B086-D143188646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B3EDB2D-12DD-4870-A9F1-EABAF78CCE6F}"/>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316079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F57053-36D6-437E-A0B8-760CF19028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6736FB0-83E9-4271-A142-E28B2088DD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41BA9EF-1E3F-4F17-A798-4680D44751BC}"/>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5" name="Footer Placeholder 4">
            <a:extLst>
              <a:ext uri="{FF2B5EF4-FFF2-40B4-BE49-F238E27FC236}">
                <a16:creationId xmlns:a16="http://schemas.microsoft.com/office/drawing/2014/main" xmlns="" id="{DBA9222A-4E64-4F66-A7F4-3A656A0722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90773C3-F7B3-44A3-9876-BE4369E4FEBD}"/>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3064697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D7BF42-F52B-4673-A568-5962D88A1F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F90F027-311F-46DC-BA86-54F7F9CC1C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0619B7E-E18D-475C-B211-85E616950208}"/>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5" name="Footer Placeholder 4">
            <a:extLst>
              <a:ext uri="{FF2B5EF4-FFF2-40B4-BE49-F238E27FC236}">
                <a16:creationId xmlns:a16="http://schemas.microsoft.com/office/drawing/2014/main" xmlns="" id="{10A352AA-BB62-4AAF-AA23-EC7767398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B56384A-34C0-422B-83A7-61845DE12880}"/>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3646754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993815-1E0F-494A-B877-CCA20F8C15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CAA01AA-C508-4C5A-B370-E6E34AB418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35DEE34B-FAE7-41D3-96AD-7738584575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A97780B-86F4-4DB6-B88E-D889F7F3BCD0}"/>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6" name="Footer Placeholder 5">
            <a:extLst>
              <a:ext uri="{FF2B5EF4-FFF2-40B4-BE49-F238E27FC236}">
                <a16:creationId xmlns:a16="http://schemas.microsoft.com/office/drawing/2014/main" xmlns="" id="{21D29CCA-C54E-4F49-BB4A-85724AA7B8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04CC2C3-E2C5-4C20-8D84-35B15ADC34E0}"/>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1080251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E9EA96-0910-476A-BB13-B6D8218706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6AE4FCF-69B5-4554-B0C1-0D43BB243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69994FA-EF9F-4C73-8948-1906B18F69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ABB52B5B-B907-449B-8244-4C48256D78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E94D113-194F-4B0A-9D5D-B352E4CB24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D31B9B89-98C2-4595-9456-919D55852BD3}"/>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8" name="Footer Placeholder 7">
            <a:extLst>
              <a:ext uri="{FF2B5EF4-FFF2-40B4-BE49-F238E27FC236}">
                <a16:creationId xmlns:a16="http://schemas.microsoft.com/office/drawing/2014/main" xmlns="" id="{2D0FAECB-BF06-4A3C-8747-ED960FBCAC4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EA18E7A1-833B-448E-A938-5CE73F8983A6}"/>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1437891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4E51C0-206D-4CC3-829E-7BD4B2F93F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F73F0FE-231B-49BE-A833-AF2A058C982C}"/>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4" name="Footer Placeholder 3">
            <a:extLst>
              <a:ext uri="{FF2B5EF4-FFF2-40B4-BE49-F238E27FC236}">
                <a16:creationId xmlns:a16="http://schemas.microsoft.com/office/drawing/2014/main" xmlns="" id="{87A69473-218F-4251-A692-BFF5464A55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3C62FEA2-579B-4C51-ABC7-349944413E03}"/>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3784173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1E08485-607B-491D-BE4E-1D6DDF1E13CC}"/>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3" name="Footer Placeholder 2">
            <a:extLst>
              <a:ext uri="{FF2B5EF4-FFF2-40B4-BE49-F238E27FC236}">
                <a16:creationId xmlns:a16="http://schemas.microsoft.com/office/drawing/2014/main" xmlns="" id="{08E1F915-554C-4CDF-81EB-9C7B9260F1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76D19813-1AD9-465D-9F5D-490120EF8881}"/>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3752195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25D56C-2DA3-4C00-87E7-10686C992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8EDB75D-E33B-4E68-9D79-360B2B77FA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5B69F059-0DB0-4F9E-9468-94DA7534A9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B8A2107-4D2B-4679-93E0-48EC9FC8D2D2}"/>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6" name="Footer Placeholder 5">
            <a:extLst>
              <a:ext uri="{FF2B5EF4-FFF2-40B4-BE49-F238E27FC236}">
                <a16:creationId xmlns:a16="http://schemas.microsoft.com/office/drawing/2014/main" xmlns="" id="{91BE773B-AE4E-4433-B046-D76D28F08F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13D6025-7EA2-4F43-8286-834AFC425D3C}"/>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401567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65A332-2BC1-4B61-BA1B-061FBCF439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0E34EF1D-C610-4DAE-89CD-99F4CF1221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2524977-BC91-4419-842D-884FBA52D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C863C83-3855-4787-8139-100EE6371F9F}"/>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6" name="Footer Placeholder 5">
            <a:extLst>
              <a:ext uri="{FF2B5EF4-FFF2-40B4-BE49-F238E27FC236}">
                <a16:creationId xmlns:a16="http://schemas.microsoft.com/office/drawing/2014/main" xmlns="" id="{D094B6EF-BE30-4383-9651-C475FE952B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7868433-76CE-46D1-8223-7F896533EB72}"/>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1967625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0055C7-70C2-49C8-AFFE-1BEF9755DF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C858A65-0FBA-49C7-95B7-6E5985A596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ABA7761-BE67-4C60-84A6-BE7884E912FB}"/>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5" name="Footer Placeholder 4">
            <a:extLst>
              <a:ext uri="{FF2B5EF4-FFF2-40B4-BE49-F238E27FC236}">
                <a16:creationId xmlns:a16="http://schemas.microsoft.com/office/drawing/2014/main" xmlns="" id="{D54EB90E-3F6A-49F2-B93A-146C8270B9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698E6A9-DEE9-4517-8678-8B1BE5EB17C4}"/>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2182737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8B001AA-4BB2-477F-A4F6-E8864F535E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2DDBDB7-51F7-42C4-A50F-CEA0635B83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EFD78C3-E233-412C-8AD9-23D1AC7877D0}"/>
              </a:ext>
            </a:extLst>
          </p:cNvPr>
          <p:cNvSpPr>
            <a:spLocks noGrp="1"/>
          </p:cNvSpPr>
          <p:nvPr>
            <p:ph type="dt" sz="half" idx="10"/>
          </p:nvPr>
        </p:nvSpPr>
        <p:spPr/>
        <p:txBody>
          <a:bodyPr/>
          <a:lstStyle/>
          <a:p>
            <a:fld id="{146D523B-640A-4D5D-B9E4-C71BA6F15567}" type="datetimeFigureOut">
              <a:rPr lang="en-IN" smtClean="0"/>
              <a:pPr/>
              <a:t>18-08-2023</a:t>
            </a:fld>
            <a:endParaRPr lang="en-IN"/>
          </a:p>
        </p:txBody>
      </p:sp>
      <p:sp>
        <p:nvSpPr>
          <p:cNvPr id="5" name="Footer Placeholder 4">
            <a:extLst>
              <a:ext uri="{FF2B5EF4-FFF2-40B4-BE49-F238E27FC236}">
                <a16:creationId xmlns:a16="http://schemas.microsoft.com/office/drawing/2014/main" xmlns="" id="{3FD8B3E2-11A8-4758-AAF1-D82EA2FCBF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DAF51BA-659B-4A41-8DB2-4746B46A74F4}"/>
              </a:ext>
            </a:extLst>
          </p:cNvPr>
          <p:cNvSpPr>
            <a:spLocks noGrp="1"/>
          </p:cNvSpPr>
          <p:nvPr>
            <p:ph type="sldNum" sz="quarter" idx="12"/>
          </p:nvPr>
        </p:nvSpPr>
        <p:spPr/>
        <p:txBody>
          <a:body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101140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4B87AD5-7314-45B1-A8FA-A48309B659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9364488-C38F-458B-AF32-BB160DA67C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DB73F05-C39E-48DE-9DB8-E734F9DBB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6D523B-640A-4D5D-B9E4-C71BA6F15567}" type="datetimeFigureOut">
              <a:rPr lang="en-IN" smtClean="0"/>
              <a:pPr/>
              <a:t>18-08-2023</a:t>
            </a:fld>
            <a:endParaRPr lang="en-IN"/>
          </a:p>
        </p:txBody>
      </p:sp>
      <p:sp>
        <p:nvSpPr>
          <p:cNvPr id="5" name="Footer Placeholder 4">
            <a:extLst>
              <a:ext uri="{FF2B5EF4-FFF2-40B4-BE49-F238E27FC236}">
                <a16:creationId xmlns:a16="http://schemas.microsoft.com/office/drawing/2014/main" xmlns="" id="{1151A907-DEE3-465F-92DF-CF9E9EC84E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20E05882-7FB3-4D0D-B92A-8F85A4D473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FEB4F-8043-4150-ACB4-1F97504D3495}" type="slidenum">
              <a:rPr lang="en-IN" smtClean="0"/>
              <a:pPr/>
              <a:t>‹#›</a:t>
            </a:fld>
            <a:endParaRPr lang="en-IN"/>
          </a:p>
        </p:txBody>
      </p:sp>
    </p:spTree>
    <p:extLst>
      <p:ext uri="{BB962C8B-B14F-4D97-AF65-F5344CB8AC3E}">
        <p14:creationId xmlns="" xmlns:p14="http://schemas.microsoft.com/office/powerpoint/2010/main" val="2861378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50845-E838-7171-2FCC-2ED5DBFBDC93}"/>
              </a:ext>
            </a:extLst>
          </p:cNvPr>
          <p:cNvSpPr>
            <a:spLocks noGrp="1"/>
          </p:cNvSpPr>
          <p:nvPr>
            <p:ph type="ctrTitle"/>
          </p:nvPr>
        </p:nvSpPr>
        <p:spPr>
          <a:xfrm>
            <a:off x="1589988" y="1876508"/>
            <a:ext cx="9144000" cy="2387600"/>
          </a:xfrm>
        </p:spPr>
        <p:txBody>
          <a:bodyPr>
            <a:normAutofit/>
          </a:bodyPr>
          <a:lstStyle/>
          <a:p>
            <a:r>
              <a:rPr lang="en-US" dirty="0">
                <a:solidFill>
                  <a:srgbClr val="FF0000"/>
                </a:solidFill>
                <a:latin typeface="Times New Roman" panose="02020603050405020304" pitchFamily="18" charset="0"/>
                <a:cs typeface="Times New Roman" panose="02020603050405020304" pitchFamily="18" charset="0"/>
              </a:rPr>
              <a:t>Unit: 2 (Machine learning clustering algorithms-II) </a:t>
            </a:r>
          </a:p>
        </p:txBody>
      </p:sp>
    </p:spTree>
    <p:extLst>
      <p:ext uri="{BB962C8B-B14F-4D97-AF65-F5344CB8AC3E}">
        <p14:creationId xmlns="" xmlns:p14="http://schemas.microsoft.com/office/powerpoint/2010/main" val="37024614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4553" y="285824"/>
            <a:ext cx="8126587" cy="4692818"/>
          </a:xfrm>
          <a:prstGeom prst="rect">
            <a:avLst/>
          </a:prstGeom>
        </p:spPr>
      </p:pic>
      <p:sp>
        <p:nvSpPr>
          <p:cNvPr id="3" name="Rectangle 2"/>
          <p:cNvSpPr/>
          <p:nvPr/>
        </p:nvSpPr>
        <p:spPr>
          <a:xfrm>
            <a:off x="1343891" y="5128644"/>
            <a:ext cx="10094421" cy="1200329"/>
          </a:xfrm>
          <a:prstGeom prst="rect">
            <a:avLst/>
          </a:prstGeom>
        </p:spPr>
        <p:txBody>
          <a:bodyPr wrap="square">
            <a:spAutoFit/>
          </a:bodyPr>
          <a:lstStyle/>
          <a:p>
            <a:r>
              <a:rPr lang="en-IN" sz="2400" dirty="0"/>
              <a:t>Anomaly detection in machine learning refers to the process of identifying data points or patterns that deviate significantly from the norm or the expected </a:t>
            </a:r>
            <a:r>
              <a:rPr lang="en-IN" sz="2400" dirty="0" err="1"/>
              <a:t>behavior</a:t>
            </a:r>
            <a:r>
              <a:rPr lang="en-IN" sz="2400" dirty="0"/>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4553" y="443529"/>
            <a:ext cx="8584423" cy="5751563"/>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1177" y="586603"/>
            <a:ext cx="9013644" cy="6166477"/>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4553" y="1487967"/>
            <a:ext cx="8241046" cy="377714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10226" y="214610"/>
            <a:ext cx="5951866" cy="6037711"/>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37930" y="801213"/>
            <a:ext cx="7668751" cy="526511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66848" y="801213"/>
            <a:ext cx="7096456" cy="5265113"/>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2" y="772598"/>
            <a:ext cx="7668751" cy="460697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66849" y="801213"/>
            <a:ext cx="6409702" cy="354822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2" y="772599"/>
            <a:ext cx="6066325" cy="533665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2" y="1716885"/>
            <a:ext cx="7439833" cy="3433769"/>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2" y="772598"/>
            <a:ext cx="6981997" cy="540818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1" y="801213"/>
            <a:ext cx="7783210" cy="523649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41805" y="199020"/>
            <a:ext cx="7210915" cy="4606974"/>
          </a:xfrm>
          <a:prstGeom prst="rect">
            <a:avLst/>
          </a:prstGeom>
        </p:spPr>
      </p:pic>
      <p:sp>
        <p:nvSpPr>
          <p:cNvPr id="3" name="Rectangle 2"/>
          <p:cNvSpPr/>
          <p:nvPr/>
        </p:nvSpPr>
        <p:spPr>
          <a:xfrm>
            <a:off x="396240" y="4929078"/>
            <a:ext cx="11308080" cy="1631216"/>
          </a:xfrm>
          <a:prstGeom prst="rect">
            <a:avLst/>
          </a:prstGeom>
        </p:spPr>
        <p:txBody>
          <a:bodyPr wrap="square">
            <a:spAutoFit/>
          </a:bodyPr>
          <a:lstStyle/>
          <a:p>
            <a:pPr marL="342900" indent="-342900">
              <a:buFont typeface="Arial" pitchFamily="34" charset="0"/>
              <a:buChar char="•"/>
            </a:pPr>
            <a:r>
              <a:rPr lang="en-IN" sz="2000" dirty="0"/>
              <a:t>Point anomalies, also known as global anomalies, refer to individual data points that deviate significantly from the rest of the data. These anomalies are isolated and stand out from the majority of the data points.</a:t>
            </a:r>
          </a:p>
          <a:p>
            <a:pPr marL="342900" indent="-342900">
              <a:buFont typeface="Arial" pitchFamily="34" charset="0"/>
              <a:buChar char="•"/>
            </a:pPr>
            <a:r>
              <a:rPr lang="en-IN" sz="2000" dirty="0"/>
              <a:t>Example: Detecting a fraudulent credit card transaction where the transaction amount is far larger or smaller than the typical spending </a:t>
            </a:r>
            <a:r>
              <a:rPr lang="en-IN" sz="2000" dirty="0" err="1"/>
              <a:t>behavior</a:t>
            </a:r>
            <a:r>
              <a:rPr lang="en-IN" sz="2000" dirty="0"/>
              <a:t> of the cardholder.</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99" y="2039127"/>
            <a:ext cx="11341331" cy="3539430"/>
          </a:xfrm>
          <a:prstGeom prst="rect">
            <a:avLst/>
          </a:prstGeom>
        </p:spPr>
        <p:txBody>
          <a:bodyPr wrap="square">
            <a:spAutoFit/>
          </a:bodyPr>
          <a:lstStyle/>
          <a:p>
            <a:pPr marL="285750" indent="-285750">
              <a:buFont typeface="Arial" pitchFamily="34" charset="0"/>
              <a:buChar char="•"/>
            </a:pPr>
            <a:r>
              <a:rPr lang="en-IN" sz="2800" dirty="0"/>
              <a:t>Contextual anomalies, also called conditional anomalies, are data points that are considered anomalous only within a specific context or condition. These anomalies might be normal in one context but abnormal in another</a:t>
            </a:r>
            <a:r>
              <a:rPr lang="en-IN" sz="2800" dirty="0" smtClean="0"/>
              <a:t>.</a:t>
            </a:r>
          </a:p>
          <a:p>
            <a:endParaRPr lang="en-IN" sz="2800" dirty="0" smtClean="0"/>
          </a:p>
          <a:p>
            <a:pPr marL="285750" indent="-285750">
              <a:buFont typeface="Arial" pitchFamily="34" charset="0"/>
              <a:buChar char="•"/>
            </a:pPr>
            <a:r>
              <a:rPr lang="en-IN" sz="2800" dirty="0"/>
              <a:t>Example: An increase in web traffic on a retail website during holiday seasons might not be anomalous, but the same traffic increase on a different website not related to retail during the same time could be considered anomalous.</a:t>
            </a:r>
          </a:p>
        </p:txBody>
      </p:sp>
      <p:sp>
        <p:nvSpPr>
          <p:cNvPr id="4" name="TextBox 3"/>
          <p:cNvSpPr txBox="1"/>
          <p:nvPr/>
        </p:nvSpPr>
        <p:spPr>
          <a:xfrm>
            <a:off x="3940233" y="623455"/>
            <a:ext cx="4391395" cy="646331"/>
          </a:xfrm>
          <a:prstGeom prst="rect">
            <a:avLst/>
          </a:prstGeom>
          <a:noFill/>
        </p:spPr>
        <p:txBody>
          <a:bodyPr wrap="none" rtlCol="0">
            <a:spAutoFit/>
          </a:bodyPr>
          <a:lstStyle/>
          <a:p>
            <a:r>
              <a:rPr lang="en-US" sz="3600" b="1" dirty="0" smtClean="0"/>
              <a:t>Contextual Anomalies</a:t>
            </a:r>
            <a:endParaRPr lang="en-IN" sz="3600" b="1" dirty="0"/>
          </a:p>
        </p:txBody>
      </p:sp>
    </p:spTree>
    <p:extLst>
      <p:ext uri="{BB962C8B-B14F-4D97-AF65-F5344CB8AC3E}">
        <p14:creationId xmlns="" xmlns:p14="http://schemas.microsoft.com/office/powerpoint/2010/main" val="16711651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1" y="801213"/>
            <a:ext cx="7783210" cy="537957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1" y="572295"/>
            <a:ext cx="7783210" cy="5265113"/>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1" y="1716885"/>
            <a:ext cx="7783210" cy="343376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65635" y="1602426"/>
            <a:ext cx="8698882" cy="4077601"/>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1" y="1030131"/>
            <a:ext cx="7783210" cy="4807277"/>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2015" y="1997839"/>
            <a:ext cx="11463249" cy="3416320"/>
          </a:xfrm>
          <a:prstGeom prst="rect">
            <a:avLst/>
          </a:prstGeom>
        </p:spPr>
        <p:txBody>
          <a:bodyPr wrap="square">
            <a:spAutoFit/>
          </a:bodyPr>
          <a:lstStyle/>
          <a:p>
            <a:pPr marL="285750" indent="-285750">
              <a:buFont typeface="Arial" pitchFamily="34" charset="0"/>
              <a:buChar char="•"/>
            </a:pPr>
            <a:r>
              <a:rPr lang="en-IN" sz="2400" dirty="0"/>
              <a:t>Collective anomalies, also known as group anomalies or cluster-level anomalies, involve a group or a subset of data instances that collectively exhibit anomalous </a:t>
            </a:r>
            <a:r>
              <a:rPr lang="en-IN" sz="2400" dirty="0" err="1"/>
              <a:t>behavior</a:t>
            </a:r>
            <a:r>
              <a:rPr lang="en-IN" sz="2400" dirty="0"/>
              <a:t> when considered together. Individually, the data points might appear normal, but their combination is abnormal</a:t>
            </a:r>
            <a:r>
              <a:rPr lang="en-IN" sz="2400" dirty="0" smtClean="0"/>
              <a:t>.</a:t>
            </a:r>
          </a:p>
          <a:p>
            <a:pPr marL="285750" indent="-285750">
              <a:buFont typeface="Arial" pitchFamily="34" charset="0"/>
              <a:buChar char="•"/>
            </a:pPr>
            <a:endParaRPr lang="en-IN" sz="2400" dirty="0"/>
          </a:p>
          <a:p>
            <a:pPr marL="285750" indent="-285750">
              <a:buFont typeface="Arial" pitchFamily="34" charset="0"/>
              <a:buChar char="•"/>
            </a:pPr>
            <a:r>
              <a:rPr lang="en-IN" sz="2400" dirty="0"/>
              <a:t>Example: Identifying a cluster of network devices that exhibit unusual communication patterns compared to the overall network traffic. While each device's </a:t>
            </a:r>
            <a:r>
              <a:rPr lang="en-IN" sz="2400" dirty="0" err="1"/>
              <a:t>behavior</a:t>
            </a:r>
            <a:r>
              <a:rPr lang="en-IN" sz="2400" dirty="0"/>
              <a:t> might appear normal on its own, the collective </a:t>
            </a:r>
            <a:r>
              <a:rPr lang="en-IN" sz="2400" dirty="0" err="1"/>
              <a:t>behavior</a:t>
            </a:r>
            <a:r>
              <a:rPr lang="en-IN" sz="2400" dirty="0"/>
              <a:t> of the devices as a group is anomalous.</a:t>
            </a:r>
          </a:p>
        </p:txBody>
      </p:sp>
      <p:sp>
        <p:nvSpPr>
          <p:cNvPr id="3" name="TextBox 2"/>
          <p:cNvSpPr txBox="1"/>
          <p:nvPr/>
        </p:nvSpPr>
        <p:spPr>
          <a:xfrm>
            <a:off x="3931919" y="465513"/>
            <a:ext cx="4979323" cy="584775"/>
          </a:xfrm>
          <a:prstGeom prst="rect">
            <a:avLst/>
          </a:prstGeom>
          <a:noFill/>
        </p:spPr>
        <p:txBody>
          <a:bodyPr wrap="square" rtlCol="0">
            <a:spAutoFit/>
          </a:bodyPr>
          <a:lstStyle/>
          <a:p>
            <a:r>
              <a:rPr lang="en-US" sz="3200" b="1" dirty="0" smtClean="0"/>
              <a:t>Collective Anomalies</a:t>
            </a:r>
            <a:endParaRPr lang="en-IN" sz="3200" b="1" dirty="0"/>
          </a:p>
        </p:txBody>
      </p:sp>
    </p:spTree>
    <p:extLst>
      <p:ext uri="{BB962C8B-B14F-4D97-AF65-F5344CB8AC3E}">
        <p14:creationId xmlns="" xmlns:p14="http://schemas.microsoft.com/office/powerpoint/2010/main" val="15622013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2" y="801213"/>
            <a:ext cx="7368296" cy="4807277"/>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2" y="457836"/>
            <a:ext cx="7668751" cy="5722949"/>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69123" y="3090392"/>
            <a:ext cx="3991757" cy="801213"/>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09013" y="772598"/>
            <a:ext cx="7997821" cy="4034679"/>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4554" y="343377"/>
            <a:ext cx="8670267" cy="560849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81460" y="772598"/>
            <a:ext cx="6538469" cy="5293727"/>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4554" y="772598"/>
            <a:ext cx="8126587" cy="346238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4553" y="801213"/>
            <a:ext cx="8584423" cy="44639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80094" y="1716885"/>
            <a:ext cx="8698882" cy="309039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3472" y="2518097"/>
            <a:ext cx="7439833" cy="1945803"/>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39F882-A057-4EDF-87BD-FC4D86BA44FE}"/>
              </a:ext>
            </a:extLst>
          </p:cNvPr>
          <p:cNvSpPr>
            <a:spLocks noGrp="1"/>
          </p:cNvSpPr>
          <p:nvPr>
            <p:ph type="title"/>
          </p:nvPr>
        </p:nvSpPr>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Gaussian Distribution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EA2AE71-D97D-408E-8EF4-F55C501C1C67}"/>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this approach, all the features are modeled on a Gaussian Distribution and given a new data-point, the probability of the data-point is given by Gaussian/Normal Distribution Function. </a:t>
            </a:r>
          </a:p>
          <a:p>
            <a:pPr algn="just"/>
            <a:r>
              <a:rPr lang="en-US" dirty="0">
                <a:latin typeface="Times New Roman" panose="02020603050405020304" pitchFamily="18" charset="0"/>
                <a:cs typeface="Times New Roman" panose="02020603050405020304" pitchFamily="18" charset="0"/>
              </a:rPr>
              <a:t>If the probability is below a particular threshold (which is set depending upon the performance of the model on the Validation Set), the new data-point is claimed to be an outlier or anomalous.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3232002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xmlns="" id="{17EDDD21-F731-4991-8A91-ED051515AF98}"/>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928812" y="906741"/>
            <a:ext cx="8334375" cy="4686300"/>
          </a:xfrm>
          <a:prstGeom prst="rect">
            <a:avLst/>
          </a:prstGeom>
          <a:noFill/>
          <a:extLst>
            <a:ext uri="{909E8E84-426E-40DD-AFC4-6F175D3DCCD1}">
              <a14:hiddenFill xmlns=""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CF9A646A-5936-4965-A957-823D329E725C}"/>
              </a:ext>
            </a:extLst>
          </p:cNvPr>
          <p:cNvSpPr txBox="1"/>
          <p:nvPr/>
        </p:nvSpPr>
        <p:spPr>
          <a:xfrm>
            <a:off x="2519705" y="5408375"/>
            <a:ext cx="7152587" cy="369332"/>
          </a:xfrm>
          <a:prstGeom prst="rect">
            <a:avLst/>
          </a:prstGeom>
          <a:noFill/>
        </p:spPr>
        <p:txBody>
          <a:bodyPr wrap="square">
            <a:spAutoFit/>
          </a:bodyPr>
          <a:lstStyle/>
          <a:p>
            <a:r>
              <a:rPr lang="en-US" b="1" i="0" dirty="0">
                <a:solidFill>
                  <a:srgbClr val="6B6B6B"/>
                </a:solidFill>
                <a:effectLst/>
                <a:latin typeface="sohne"/>
              </a:rPr>
              <a:t>Gaussian/Normal Distribution with Mean = µ and Standard Deviation = σ</a:t>
            </a:r>
            <a:endParaRPr lang="en-IN" dirty="0"/>
          </a:p>
        </p:txBody>
      </p:sp>
    </p:spTree>
    <p:extLst>
      <p:ext uri="{BB962C8B-B14F-4D97-AF65-F5344CB8AC3E}">
        <p14:creationId xmlns="" xmlns:p14="http://schemas.microsoft.com/office/powerpoint/2010/main" val="18482644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xmlns="" id="{1532BA3B-6326-4E60-BEFF-F3E3D313A931}"/>
              </a:ext>
            </a:extLst>
          </p:cNvPr>
          <p:cNvSpPr>
            <a:spLocks noGrp="1" noChangeArrowheads="1"/>
          </p:cNvSpPr>
          <p:nvPr>
            <p:ph type="title"/>
          </p:nvPr>
        </p:nvSpPr>
        <p:spPr bwMode="auto">
          <a:xfrm>
            <a:off x="876692" y="579103"/>
            <a:ext cx="10750485" cy="3744502"/>
          </a:xfrm>
          <a:prstGeom prst="rect">
            <a:avLst/>
          </a:prstGeom>
          <a:solidFill>
            <a:srgbClr val="F2F2F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355488"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242424"/>
                </a:solidFill>
                <a:effectLst/>
                <a:latin typeface="Times New Roman" pitchFamily="18" charset="0"/>
                <a:cs typeface="Times New Roman" pitchFamily="18" charset="0"/>
              </a:rPr>
              <a:t>Gaussian Distribution Anomaly Detection Algorithm:</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Let us consider that there are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m</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data-points (instances) each with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n</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selected features.</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The Mean parameter for each feature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j</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 1 to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n</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is fit.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The Variance parameter for each feature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j</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 1 to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n</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is fit.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Given a new data-point,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x </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 {x_1, x_2, … , </a:t>
            </a:r>
            <a:r>
              <a:rPr kumimoji="0" lang="en-US" altLang="en-US" sz="2000" b="0" i="1" u="none" strike="noStrike" cap="none" normalizeH="0" baseline="0" dirty="0" err="1">
                <a:ln>
                  <a:noFill/>
                </a:ln>
                <a:solidFill>
                  <a:srgbClr val="242424"/>
                </a:solidFill>
                <a:effectLst/>
                <a:latin typeface="Times New Roman" pitchFamily="18" charset="0"/>
                <a:cs typeface="Times New Roman" pitchFamily="18" charset="0"/>
              </a:rPr>
              <a:t>x_j</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a:t>
            </a:r>
            <a:r>
              <a:rPr kumimoji="0" lang="en-US" altLang="en-US" sz="2000" b="0" i="1" u="none" strike="noStrike" cap="none" normalizeH="0" baseline="0" dirty="0">
                <a:ln>
                  <a:noFill/>
                </a:ln>
                <a:solidFill>
                  <a:srgbClr val="242424"/>
                </a:solidFill>
                <a:effectLst/>
                <a:latin typeface="Times New Roman" pitchFamily="18" charset="0"/>
                <a:cs typeface="Times New Roman" pitchFamily="18" charset="0"/>
              </a:rPr>
              <a:t>p(x) </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is given by,</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or,</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Now, a threshold parameter, </a:t>
            </a:r>
            <a:r>
              <a:rPr kumimoji="0" lang="en-US" altLang="en-US" sz="2000" b="1" i="0" u="none" strike="noStrike" cap="none" normalizeH="0" baseline="0" dirty="0">
                <a:ln>
                  <a:noFill/>
                </a:ln>
                <a:solidFill>
                  <a:srgbClr val="242424"/>
                </a:solidFill>
                <a:effectLst/>
                <a:latin typeface="Times New Roman" pitchFamily="18" charset="0"/>
                <a:cs typeface="Times New Roman" pitchFamily="18" charset="0"/>
              </a:rPr>
              <a:t>ε </a:t>
            </a: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is selected such that,</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if p(x) &lt; </a:t>
            </a:r>
            <a:r>
              <a:rPr kumimoji="0" lang="en-US" altLang="en-US" sz="2000" b="1" i="0" u="none" strike="noStrike" cap="none" normalizeH="0" baseline="0" dirty="0">
                <a:ln>
                  <a:noFill/>
                </a:ln>
                <a:solidFill>
                  <a:srgbClr val="242424"/>
                </a:solidFill>
                <a:effectLst/>
                <a:latin typeface="Times New Roman" pitchFamily="18" charset="0"/>
                <a:cs typeface="Times New Roman" pitchFamily="18" charset="0"/>
              </a:rPr>
              <a:t>ε:</a:t>
            </a:r>
            <a:br>
              <a:rPr kumimoji="0" lang="en-US" altLang="en-US" sz="2000" b="1" i="0" u="none" strike="noStrike" cap="none" normalizeH="0" baseline="0" dirty="0">
                <a:ln>
                  <a:noFill/>
                </a:ln>
                <a:solidFill>
                  <a:srgbClr val="242424"/>
                </a:solidFill>
                <a:effectLst/>
                <a:latin typeface="Times New Roman" pitchFamily="18" charset="0"/>
                <a:cs typeface="Times New Roman" pitchFamily="18" charset="0"/>
              </a:rPr>
            </a:b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x is an ANOMALY or OUTLIER !!!!</a:t>
            </a:r>
            <a:b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b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else:</a:t>
            </a:r>
            <a:b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br>
            <a:r>
              <a:rPr kumimoji="0" lang="en-US" altLang="en-US" sz="2000" b="0" i="0" u="none" strike="noStrike" cap="none" normalizeH="0" baseline="0" dirty="0">
                <a:ln>
                  <a:noFill/>
                </a:ln>
                <a:solidFill>
                  <a:srgbClr val="242424"/>
                </a:solidFill>
                <a:effectLst/>
                <a:latin typeface="Times New Roman" pitchFamily="18" charset="0"/>
                <a:cs typeface="Times New Roman" pitchFamily="18" charset="0"/>
              </a:rPr>
              <a:t># x is NOT an ANOMALY or OUTLIER !!!!</a:t>
            </a:r>
            <a:r>
              <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rPr>
              <a:t> </a:t>
            </a:r>
          </a:p>
        </p:txBody>
      </p:sp>
    </p:spTree>
    <p:extLst>
      <p:ext uri="{BB962C8B-B14F-4D97-AF65-F5344CB8AC3E}">
        <p14:creationId xmlns="" xmlns:p14="http://schemas.microsoft.com/office/powerpoint/2010/main" val="37755305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iven continuous random variable X with its distrubution mean mu and its distribution standard deviation sigma, probability density function of Gaussian distribution is f of x equals to inverse of product of sigma and square root of 2 pi times e to the negative one half of square of difference between x and mu over sigma">
            <a:extLst>
              <a:ext uri="{FF2B5EF4-FFF2-40B4-BE49-F238E27FC236}">
                <a16:creationId xmlns:a16="http://schemas.microsoft.com/office/drawing/2014/main" xmlns="" id="{7A58650E-2480-40E3-95A5-161D6A19A770}"/>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865229" y="1051923"/>
            <a:ext cx="9494069" cy="18515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9A613B73-9A4C-4F2A-90E9-A05635B14647}"/>
              </a:ext>
            </a:extLst>
          </p:cNvPr>
          <p:cNvSpPr txBox="1"/>
          <p:nvPr/>
        </p:nvSpPr>
        <p:spPr>
          <a:xfrm>
            <a:off x="1329179" y="487540"/>
            <a:ext cx="9794449" cy="400110"/>
          </a:xfrm>
          <a:prstGeom prst="rect">
            <a:avLst/>
          </a:prstGeom>
          <a:noFill/>
        </p:spPr>
        <p:txBody>
          <a:bodyPr wrap="square">
            <a:spAutoFit/>
          </a:bodyPr>
          <a:lstStyle/>
          <a:p>
            <a:r>
              <a:rPr lang="en-US" sz="2000" b="0" i="0" dirty="0">
                <a:solidFill>
                  <a:srgbClr val="FF0000"/>
                </a:solidFill>
                <a:effectLst/>
                <a:latin typeface="Times New Roman" panose="02020603050405020304" pitchFamily="18" charset="0"/>
                <a:cs typeface="Times New Roman" panose="02020603050405020304" pitchFamily="18" charset="0"/>
              </a:rPr>
              <a:t>The probability density function, defined as f(x), measures the probability of some outcome x </a:t>
            </a:r>
            <a:endParaRPr lang="en-IN" sz="2000" dirty="0">
              <a:solidFill>
                <a:srgbClr val="FF0000"/>
              </a:solidFill>
              <a:latin typeface="Times New Roman" panose="02020603050405020304" pitchFamily="18" charset="0"/>
              <a:cs typeface="Times New Roman" panose="02020603050405020304" pitchFamily="18" charset="0"/>
            </a:endParaRPr>
          </a:p>
        </p:txBody>
      </p:sp>
      <p:pic>
        <p:nvPicPr>
          <p:cNvPr id="4100" name="Picture 4" descr="f of x one and x two equals to inverse of 2 pi sigma one sigma two, times e to the one fourth times square of x one minus mu one divided by sigma one, times square of x 2 minus mu 2 divided by sigma two">
            <a:extLst>
              <a:ext uri="{FF2B5EF4-FFF2-40B4-BE49-F238E27FC236}">
                <a16:creationId xmlns:a16="http://schemas.microsoft.com/office/drawing/2014/main" xmlns="" id="{EF0A2147-E937-46DB-92FE-EE98EF37630E}"/>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202534" y="4006392"/>
            <a:ext cx="6404138" cy="2234151"/>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xmlns="" id="{9ABAAE86-39D1-4E2A-B291-4D29318C527E}"/>
              </a:ext>
            </a:extLst>
          </p:cNvPr>
          <p:cNvSpPr txBox="1"/>
          <p:nvPr/>
        </p:nvSpPr>
        <p:spPr>
          <a:xfrm>
            <a:off x="1640263" y="3243317"/>
            <a:ext cx="7718196" cy="1200329"/>
          </a:xfrm>
          <a:prstGeom prst="rect">
            <a:avLst/>
          </a:prstGeom>
          <a:noFill/>
        </p:spPr>
        <p:txBody>
          <a:bodyPr wrap="square">
            <a:spAutoFit/>
          </a:bodyPr>
          <a:lstStyle/>
          <a:p>
            <a:pPr algn="l"/>
            <a:r>
              <a:rPr lang="en-US" sz="2400" b="0" i="0" dirty="0">
                <a:solidFill>
                  <a:srgbClr val="FF0000"/>
                </a:solidFill>
                <a:effectLst/>
                <a:latin typeface="Times New Roman" panose="02020603050405020304" pitchFamily="18" charset="0"/>
                <a:cs typeface="Times New Roman" panose="02020603050405020304" pitchFamily="18" charset="0"/>
              </a:rPr>
              <a:t>For a two uncorrelated feature case, this becomes</a:t>
            </a:r>
          </a:p>
          <a:p>
            <a:r>
              <a:rPr lang="en-US" sz="2400" dirty="0">
                <a:solidFill>
                  <a:srgbClr val="FF0000"/>
                </a:solidFill>
                <a:latin typeface="Times New Roman" panose="02020603050405020304" pitchFamily="18" charset="0"/>
                <a:cs typeface="Times New Roman" panose="02020603050405020304" pitchFamily="18" charset="0"/>
              </a:rPr>
              <a:t/>
            </a:r>
            <a:br>
              <a:rPr lang="en-US" sz="2400" dirty="0">
                <a:solidFill>
                  <a:srgbClr val="FF0000"/>
                </a:solidFill>
                <a:latin typeface="Times New Roman" panose="02020603050405020304" pitchFamily="18" charset="0"/>
                <a:cs typeface="Times New Roman" panose="02020603050405020304" pitchFamily="18" charset="0"/>
              </a:rPr>
            </a:br>
            <a:endParaRPr lang="en-IN"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900606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286" y="899410"/>
            <a:ext cx="11104366" cy="6124754"/>
          </a:xfrm>
          <a:prstGeom prst="rect">
            <a:avLst/>
          </a:prstGeom>
        </p:spPr>
        <p:txBody>
          <a:bodyPr wrap="square">
            <a:spAutoFit/>
          </a:bodyPr>
          <a:lstStyle/>
          <a:p>
            <a:r>
              <a:rPr lang="en-IN" sz="2000" dirty="0"/>
              <a:t>import </a:t>
            </a:r>
            <a:r>
              <a:rPr lang="en-IN" sz="2000" dirty="0" err="1"/>
              <a:t>numpy</a:t>
            </a:r>
            <a:r>
              <a:rPr lang="en-IN" sz="2000" dirty="0"/>
              <a:t> as </a:t>
            </a:r>
            <a:r>
              <a:rPr lang="en-IN" sz="2000" dirty="0" err="1"/>
              <a:t>np</a:t>
            </a:r>
            <a:endParaRPr lang="en-IN" sz="2000" dirty="0"/>
          </a:p>
          <a:p>
            <a:r>
              <a:rPr lang="en-IN" sz="2000" dirty="0"/>
              <a:t>import </a:t>
            </a:r>
            <a:r>
              <a:rPr lang="en-IN" sz="2000" dirty="0" err="1"/>
              <a:t>matplotlib.pyplot</a:t>
            </a:r>
            <a:r>
              <a:rPr lang="en-IN" sz="2000" dirty="0"/>
              <a:t> as </a:t>
            </a:r>
            <a:r>
              <a:rPr lang="en-IN" sz="2000" dirty="0" err="1"/>
              <a:t>plt</a:t>
            </a:r>
            <a:endParaRPr lang="en-IN" sz="2000" dirty="0"/>
          </a:p>
          <a:p>
            <a:r>
              <a:rPr lang="en-IN" sz="2000" dirty="0"/>
              <a:t>from </a:t>
            </a:r>
            <a:r>
              <a:rPr lang="en-IN" sz="2000" dirty="0" err="1"/>
              <a:t>sklearn.tree</a:t>
            </a:r>
            <a:r>
              <a:rPr lang="en-IN" sz="2000" dirty="0"/>
              <a:t> import </a:t>
            </a:r>
            <a:r>
              <a:rPr lang="en-IN" sz="2000" dirty="0" err="1"/>
              <a:t>DecisionTreeClassifier</a:t>
            </a:r>
            <a:endParaRPr lang="en-IN" sz="2000" dirty="0"/>
          </a:p>
          <a:p>
            <a:r>
              <a:rPr lang="en-IN" sz="2000" dirty="0"/>
              <a:t>from </a:t>
            </a:r>
            <a:r>
              <a:rPr lang="en-IN" sz="2000" dirty="0" err="1"/>
              <a:t>sklearn.model_selection</a:t>
            </a:r>
            <a:r>
              <a:rPr lang="en-IN" sz="2000" dirty="0"/>
              <a:t> import </a:t>
            </a:r>
            <a:r>
              <a:rPr lang="en-IN" sz="2000" dirty="0" err="1"/>
              <a:t>train_test_split</a:t>
            </a:r>
            <a:endParaRPr lang="en-IN" sz="2000" dirty="0"/>
          </a:p>
          <a:p>
            <a:r>
              <a:rPr lang="en-IN" sz="2000" dirty="0"/>
              <a:t>from </a:t>
            </a:r>
            <a:r>
              <a:rPr lang="en-IN" sz="2000" dirty="0" err="1"/>
              <a:t>sklearn.metrics</a:t>
            </a:r>
            <a:r>
              <a:rPr lang="en-IN" sz="2000" dirty="0"/>
              <a:t> import </a:t>
            </a:r>
            <a:r>
              <a:rPr lang="en-IN" sz="2000" dirty="0" err="1"/>
              <a:t>confusion_matrix</a:t>
            </a:r>
            <a:endParaRPr lang="en-IN" sz="2000" dirty="0"/>
          </a:p>
          <a:p>
            <a:endParaRPr lang="en-IN" sz="2000" dirty="0"/>
          </a:p>
          <a:p>
            <a:r>
              <a:rPr lang="en-IN" sz="2000" dirty="0"/>
              <a:t># Generate synthetic data</a:t>
            </a:r>
          </a:p>
          <a:p>
            <a:r>
              <a:rPr lang="en-IN" sz="2000" dirty="0" err="1"/>
              <a:t>np.random.seed</a:t>
            </a:r>
            <a:r>
              <a:rPr lang="en-IN" sz="2000" dirty="0"/>
              <a:t>(42)</a:t>
            </a:r>
          </a:p>
          <a:p>
            <a:r>
              <a:rPr lang="en-IN" sz="2000" dirty="0" err="1"/>
              <a:t>normal_data</a:t>
            </a:r>
            <a:r>
              <a:rPr lang="en-IN" sz="2000" dirty="0"/>
              <a:t> = </a:t>
            </a:r>
            <a:r>
              <a:rPr lang="en-IN" sz="2000" dirty="0" err="1"/>
              <a:t>np.random.randn</a:t>
            </a:r>
            <a:r>
              <a:rPr lang="en-IN" sz="2000" dirty="0"/>
              <a:t>(1000, 2) * 2  # Normal data points</a:t>
            </a:r>
          </a:p>
          <a:p>
            <a:r>
              <a:rPr lang="en-IN" sz="2000" dirty="0" err="1"/>
              <a:t>anomaly_data</a:t>
            </a:r>
            <a:r>
              <a:rPr lang="en-IN" sz="2000" dirty="0"/>
              <a:t> = </a:t>
            </a:r>
            <a:r>
              <a:rPr lang="en-IN" sz="2000" dirty="0" err="1"/>
              <a:t>np.random.randn</a:t>
            </a:r>
            <a:r>
              <a:rPr lang="en-IN" sz="2000" dirty="0"/>
              <a:t>(50, 2) * 10  # Anomaly data points</a:t>
            </a:r>
          </a:p>
          <a:p>
            <a:endParaRPr lang="en-IN" sz="2000" dirty="0"/>
          </a:p>
          <a:p>
            <a:r>
              <a:rPr lang="en-IN" sz="2000" dirty="0"/>
              <a:t># Create labels (0 for normal, 1 for anomalies)</a:t>
            </a:r>
          </a:p>
          <a:p>
            <a:r>
              <a:rPr lang="en-IN" sz="2000" dirty="0"/>
              <a:t>labels = </a:t>
            </a:r>
            <a:r>
              <a:rPr lang="en-IN" sz="2000" dirty="0" err="1"/>
              <a:t>np.zeros</a:t>
            </a:r>
            <a:r>
              <a:rPr lang="en-IN" sz="2000" dirty="0"/>
              <a:t>(</a:t>
            </a:r>
            <a:r>
              <a:rPr lang="en-IN" sz="2000" dirty="0" err="1"/>
              <a:t>normal_data.shape</a:t>
            </a:r>
            <a:r>
              <a:rPr lang="en-IN" sz="2000" dirty="0"/>
              <a:t>[0])</a:t>
            </a:r>
          </a:p>
          <a:p>
            <a:r>
              <a:rPr lang="en-IN" sz="2000" dirty="0" err="1"/>
              <a:t>anomaly_labels</a:t>
            </a:r>
            <a:r>
              <a:rPr lang="en-IN" sz="2000" dirty="0"/>
              <a:t> = </a:t>
            </a:r>
            <a:r>
              <a:rPr lang="en-IN" sz="2000" dirty="0" err="1"/>
              <a:t>np.ones</a:t>
            </a:r>
            <a:r>
              <a:rPr lang="en-IN" sz="2000" dirty="0"/>
              <a:t>(</a:t>
            </a:r>
            <a:r>
              <a:rPr lang="en-IN" sz="2000" dirty="0" err="1"/>
              <a:t>anomaly_data.shape</a:t>
            </a:r>
            <a:r>
              <a:rPr lang="en-IN" sz="2000" dirty="0"/>
              <a:t>[0])</a:t>
            </a:r>
          </a:p>
          <a:p>
            <a:r>
              <a:rPr lang="en-IN" sz="2000" dirty="0"/>
              <a:t>labels = </a:t>
            </a:r>
            <a:r>
              <a:rPr lang="en-IN" sz="2000" dirty="0" err="1"/>
              <a:t>np.concatenate</a:t>
            </a:r>
            <a:r>
              <a:rPr lang="en-IN" sz="2000" dirty="0"/>
              <a:t>((labels, </a:t>
            </a:r>
            <a:r>
              <a:rPr lang="en-IN" sz="2000" dirty="0" err="1"/>
              <a:t>anomaly_labels</a:t>
            </a:r>
            <a:r>
              <a:rPr lang="en-IN" sz="2000" dirty="0"/>
              <a:t>))</a:t>
            </a:r>
          </a:p>
          <a:p>
            <a:endParaRPr lang="en-IN" sz="2000" dirty="0"/>
          </a:p>
          <a:p>
            <a:r>
              <a:rPr lang="en-IN" sz="2000" dirty="0"/>
              <a:t># Combine normal and anomaly data</a:t>
            </a:r>
          </a:p>
          <a:p>
            <a:r>
              <a:rPr lang="en-IN" sz="2000" dirty="0"/>
              <a:t>data = </a:t>
            </a:r>
            <a:r>
              <a:rPr lang="en-IN" sz="2000" dirty="0" err="1"/>
              <a:t>np.vstack</a:t>
            </a:r>
            <a:r>
              <a:rPr lang="en-IN" sz="2000" dirty="0"/>
              <a:t>((</a:t>
            </a:r>
            <a:r>
              <a:rPr lang="en-IN" sz="2000" dirty="0" err="1"/>
              <a:t>normal_data</a:t>
            </a:r>
            <a:r>
              <a:rPr lang="en-IN" sz="2000" dirty="0"/>
              <a:t>, </a:t>
            </a:r>
            <a:r>
              <a:rPr lang="en-IN" sz="2000" dirty="0" err="1"/>
              <a:t>anomaly_data</a:t>
            </a:r>
            <a:r>
              <a:rPr lang="en-IN" sz="2000" dirty="0"/>
              <a:t>))</a:t>
            </a:r>
          </a:p>
          <a:p>
            <a:endParaRPr lang="en-IN" sz="1600" dirty="0"/>
          </a:p>
          <a:p>
            <a:endParaRPr lang="en-IN" sz="1600" dirty="0"/>
          </a:p>
        </p:txBody>
      </p:sp>
      <p:sp>
        <p:nvSpPr>
          <p:cNvPr id="6" name="TextBox 5"/>
          <p:cNvSpPr txBox="1"/>
          <p:nvPr/>
        </p:nvSpPr>
        <p:spPr>
          <a:xfrm>
            <a:off x="3666447" y="414866"/>
            <a:ext cx="5045677" cy="461665"/>
          </a:xfrm>
          <a:prstGeom prst="rect">
            <a:avLst/>
          </a:prstGeom>
          <a:noFill/>
        </p:spPr>
        <p:txBody>
          <a:bodyPr wrap="none" rtlCol="0">
            <a:spAutoFit/>
          </a:bodyPr>
          <a:lstStyle/>
          <a:p>
            <a:r>
              <a:rPr lang="en-US" sz="2400" dirty="0" smtClean="0"/>
              <a:t>Anomaly Detection using Decision Tree</a:t>
            </a:r>
            <a:endParaRPr lang="en-IN" sz="2400" dirty="0"/>
          </a:p>
        </p:txBody>
      </p:sp>
    </p:spTree>
    <p:extLst>
      <p:ext uri="{BB962C8B-B14F-4D97-AF65-F5344CB8AC3E}">
        <p14:creationId xmlns="" xmlns:p14="http://schemas.microsoft.com/office/powerpoint/2010/main" val="39966679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0"/>
            <a:ext cx="10515600" cy="6853158"/>
          </a:xfrm>
          <a:prstGeom prst="rect">
            <a:avLst/>
          </a:prstGeom>
        </p:spPr>
        <p:txBody>
          <a:bodyPr wrap="square">
            <a:spAutoFit/>
          </a:bodyPr>
          <a:lstStyle/>
          <a:p>
            <a:r>
              <a:rPr lang="en-IN" sz="2000" dirty="0"/>
              <a:t># Split data into training and testing sets</a:t>
            </a:r>
          </a:p>
          <a:p>
            <a:r>
              <a:rPr lang="en-IN" sz="2000" dirty="0" err="1"/>
              <a:t>X_train</a:t>
            </a:r>
            <a:r>
              <a:rPr lang="en-IN" sz="2000" dirty="0"/>
              <a:t>, </a:t>
            </a:r>
            <a:r>
              <a:rPr lang="en-IN" sz="2000" dirty="0" err="1"/>
              <a:t>X_test</a:t>
            </a:r>
            <a:r>
              <a:rPr lang="en-IN" sz="2000" dirty="0"/>
              <a:t>, </a:t>
            </a:r>
            <a:r>
              <a:rPr lang="en-IN" sz="2000" dirty="0" err="1"/>
              <a:t>y_train</a:t>
            </a:r>
            <a:r>
              <a:rPr lang="en-IN" sz="2000" dirty="0"/>
              <a:t>, </a:t>
            </a:r>
            <a:r>
              <a:rPr lang="en-IN" sz="2000" dirty="0" err="1"/>
              <a:t>y_test</a:t>
            </a:r>
            <a:r>
              <a:rPr lang="en-IN" sz="2000" dirty="0"/>
              <a:t> = </a:t>
            </a:r>
            <a:r>
              <a:rPr lang="en-IN" sz="2000" dirty="0" err="1"/>
              <a:t>train_test_split</a:t>
            </a:r>
            <a:r>
              <a:rPr lang="en-IN" sz="2000" dirty="0"/>
              <a:t>(data, labels, </a:t>
            </a:r>
            <a:r>
              <a:rPr lang="en-IN" sz="2000" dirty="0" err="1"/>
              <a:t>test_size</a:t>
            </a:r>
            <a:r>
              <a:rPr lang="en-IN" sz="2000" dirty="0"/>
              <a:t>=0.2, </a:t>
            </a:r>
            <a:r>
              <a:rPr lang="en-IN" sz="2000" dirty="0" err="1"/>
              <a:t>random_state</a:t>
            </a:r>
            <a:r>
              <a:rPr lang="en-IN" sz="2000" dirty="0"/>
              <a:t>=42)</a:t>
            </a:r>
          </a:p>
          <a:p>
            <a:r>
              <a:rPr lang="en-IN" sz="2000" dirty="0" smtClean="0"/>
              <a:t># </a:t>
            </a:r>
            <a:r>
              <a:rPr lang="en-IN" sz="2000" dirty="0"/>
              <a:t>Fit Decision Tree model</a:t>
            </a:r>
          </a:p>
          <a:p>
            <a:r>
              <a:rPr lang="en-IN" sz="2000" dirty="0"/>
              <a:t>model = </a:t>
            </a:r>
            <a:r>
              <a:rPr lang="en-IN" sz="2000" dirty="0" err="1"/>
              <a:t>DecisionTreeClassifier</a:t>
            </a:r>
            <a:r>
              <a:rPr lang="en-IN" sz="2000" dirty="0"/>
              <a:t>(</a:t>
            </a:r>
            <a:r>
              <a:rPr lang="en-IN" sz="2000" dirty="0" err="1"/>
              <a:t>random_state</a:t>
            </a:r>
            <a:r>
              <a:rPr lang="en-IN" sz="2000" dirty="0"/>
              <a:t>=42)</a:t>
            </a:r>
          </a:p>
          <a:p>
            <a:r>
              <a:rPr lang="en-IN" sz="2000" dirty="0" err="1"/>
              <a:t>model.fit</a:t>
            </a:r>
            <a:r>
              <a:rPr lang="en-IN" sz="2000" dirty="0"/>
              <a:t>(</a:t>
            </a:r>
            <a:r>
              <a:rPr lang="en-IN" sz="2000" dirty="0" err="1"/>
              <a:t>X_train</a:t>
            </a:r>
            <a:r>
              <a:rPr lang="en-IN" sz="2000" dirty="0"/>
              <a:t>, </a:t>
            </a:r>
            <a:r>
              <a:rPr lang="en-IN" sz="2000" dirty="0" err="1"/>
              <a:t>y_train</a:t>
            </a:r>
            <a:r>
              <a:rPr lang="en-IN" sz="2000" dirty="0"/>
              <a:t>)</a:t>
            </a:r>
          </a:p>
          <a:p>
            <a:r>
              <a:rPr lang="en-IN" sz="2000" dirty="0" smtClean="0"/>
              <a:t># </a:t>
            </a:r>
            <a:r>
              <a:rPr lang="en-IN" sz="2000" dirty="0"/>
              <a:t>Predict anomalies</a:t>
            </a:r>
          </a:p>
          <a:p>
            <a:r>
              <a:rPr lang="en-IN" sz="2000" dirty="0"/>
              <a:t>predictions = </a:t>
            </a:r>
            <a:r>
              <a:rPr lang="en-IN" sz="2000" dirty="0" err="1"/>
              <a:t>model.predict</a:t>
            </a:r>
            <a:r>
              <a:rPr lang="en-IN" sz="2000" dirty="0"/>
              <a:t>(</a:t>
            </a:r>
            <a:r>
              <a:rPr lang="en-IN" sz="2000" dirty="0" err="1"/>
              <a:t>X_test</a:t>
            </a:r>
            <a:r>
              <a:rPr lang="en-IN" sz="2000" dirty="0"/>
              <a:t>)</a:t>
            </a:r>
          </a:p>
          <a:p>
            <a:r>
              <a:rPr lang="en-IN" sz="2000" dirty="0" smtClean="0"/>
              <a:t># </a:t>
            </a:r>
            <a:r>
              <a:rPr lang="en-IN" sz="2000" dirty="0"/>
              <a:t>Evaluate model performance</a:t>
            </a:r>
          </a:p>
          <a:p>
            <a:r>
              <a:rPr lang="en-IN" sz="2000" dirty="0" err="1"/>
              <a:t>conf_matrix</a:t>
            </a:r>
            <a:r>
              <a:rPr lang="en-IN" sz="2000" dirty="0"/>
              <a:t> = </a:t>
            </a:r>
            <a:r>
              <a:rPr lang="en-IN" sz="2000" dirty="0" err="1"/>
              <a:t>confusion_matrix</a:t>
            </a:r>
            <a:r>
              <a:rPr lang="en-IN" sz="2000" dirty="0"/>
              <a:t>(</a:t>
            </a:r>
            <a:r>
              <a:rPr lang="en-IN" sz="2000" dirty="0" err="1"/>
              <a:t>y_test</a:t>
            </a:r>
            <a:r>
              <a:rPr lang="en-IN" sz="2000" dirty="0"/>
              <a:t>, predictions)</a:t>
            </a:r>
          </a:p>
          <a:p>
            <a:r>
              <a:rPr lang="en-IN" sz="2000" dirty="0"/>
              <a:t>print("Confusion Matrix:")</a:t>
            </a:r>
          </a:p>
          <a:p>
            <a:r>
              <a:rPr lang="en-IN" sz="2000" dirty="0"/>
              <a:t>print(</a:t>
            </a:r>
            <a:r>
              <a:rPr lang="en-IN" sz="2000" dirty="0" err="1"/>
              <a:t>conf_matrix</a:t>
            </a:r>
            <a:r>
              <a:rPr lang="en-IN" sz="2000" dirty="0"/>
              <a:t>)</a:t>
            </a:r>
          </a:p>
          <a:p>
            <a:r>
              <a:rPr lang="en-IN" sz="2000" dirty="0" smtClean="0"/>
              <a:t># </a:t>
            </a:r>
            <a:r>
              <a:rPr lang="en-IN" sz="2000" dirty="0"/>
              <a:t>Plot the data and decision boundary</a:t>
            </a:r>
          </a:p>
          <a:p>
            <a:r>
              <a:rPr lang="en-IN" sz="2000" dirty="0" err="1"/>
              <a:t>plt.scatter</a:t>
            </a:r>
            <a:r>
              <a:rPr lang="en-IN" sz="2000" dirty="0"/>
              <a:t>(</a:t>
            </a:r>
            <a:r>
              <a:rPr lang="en-IN" sz="2000" dirty="0" err="1"/>
              <a:t>X_test</a:t>
            </a:r>
            <a:r>
              <a:rPr lang="en-IN" sz="2000" dirty="0"/>
              <a:t>[:, 0], </a:t>
            </a:r>
            <a:r>
              <a:rPr lang="en-IN" sz="2000" dirty="0" err="1"/>
              <a:t>X_test</a:t>
            </a:r>
            <a:r>
              <a:rPr lang="en-IN" sz="2000" dirty="0"/>
              <a:t>[:, 1], c=predictions, </a:t>
            </a:r>
            <a:r>
              <a:rPr lang="en-IN" sz="2000" dirty="0" err="1"/>
              <a:t>cmap</a:t>
            </a:r>
            <a:r>
              <a:rPr lang="en-IN" sz="2000" dirty="0"/>
              <a:t>=</a:t>
            </a:r>
            <a:r>
              <a:rPr lang="en-IN" sz="2000" dirty="0" err="1"/>
              <a:t>plt.cm.Paired</a:t>
            </a:r>
            <a:r>
              <a:rPr lang="en-IN" sz="2000" dirty="0"/>
              <a:t>)</a:t>
            </a:r>
          </a:p>
          <a:p>
            <a:r>
              <a:rPr lang="en-IN" sz="2000" dirty="0" err="1"/>
              <a:t>plt.title</a:t>
            </a:r>
            <a:r>
              <a:rPr lang="en-IN" sz="2000" dirty="0"/>
              <a:t>("Anomaly Detection using Decision Tree")</a:t>
            </a:r>
          </a:p>
          <a:p>
            <a:r>
              <a:rPr lang="en-IN" sz="2000" dirty="0" err="1"/>
              <a:t>plt.xlabel</a:t>
            </a:r>
            <a:r>
              <a:rPr lang="en-IN" sz="2000" dirty="0"/>
              <a:t>("Feature 1")</a:t>
            </a:r>
          </a:p>
          <a:p>
            <a:r>
              <a:rPr lang="en-IN" sz="2000" dirty="0" err="1"/>
              <a:t>plt.ylabel</a:t>
            </a:r>
            <a:r>
              <a:rPr lang="en-IN" sz="2000" dirty="0"/>
              <a:t>("Feature 2")</a:t>
            </a:r>
          </a:p>
          <a:p>
            <a:r>
              <a:rPr lang="en-IN" sz="2000" dirty="0" err="1"/>
              <a:t>plt.show</a:t>
            </a:r>
            <a:r>
              <a:rPr lang="en-IN" sz="2000" dirty="0"/>
              <a: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532" y="939800"/>
            <a:ext cx="6297257" cy="5386090"/>
          </a:xfrm>
          <a:prstGeom prst="rect">
            <a:avLst/>
          </a:prstGeom>
        </p:spPr>
        <p:txBody>
          <a:bodyPr wrap="square">
            <a:spAutoFit/>
          </a:bodyPr>
          <a:lstStyle/>
          <a:p>
            <a:r>
              <a:rPr lang="en-IN" sz="2400" dirty="0"/>
              <a:t>import </a:t>
            </a:r>
            <a:r>
              <a:rPr lang="en-IN" sz="2400" dirty="0" err="1"/>
              <a:t>numpy</a:t>
            </a:r>
            <a:r>
              <a:rPr lang="en-IN" sz="2400" dirty="0"/>
              <a:t> as </a:t>
            </a:r>
            <a:r>
              <a:rPr lang="en-IN" sz="2400" dirty="0" err="1"/>
              <a:t>np</a:t>
            </a:r>
            <a:endParaRPr lang="en-IN" sz="2400" dirty="0"/>
          </a:p>
          <a:p>
            <a:r>
              <a:rPr lang="en-IN" sz="2400" dirty="0"/>
              <a:t>import </a:t>
            </a:r>
            <a:r>
              <a:rPr lang="en-IN" sz="2400" dirty="0" err="1"/>
              <a:t>matplotlib.pyplot</a:t>
            </a:r>
            <a:r>
              <a:rPr lang="en-IN" sz="2400" dirty="0"/>
              <a:t> as </a:t>
            </a:r>
            <a:r>
              <a:rPr lang="en-IN" sz="2400" dirty="0" err="1"/>
              <a:t>plt</a:t>
            </a:r>
            <a:endParaRPr lang="en-IN" sz="2400" dirty="0"/>
          </a:p>
          <a:p>
            <a:r>
              <a:rPr lang="en-IN" sz="2400" dirty="0"/>
              <a:t>from </a:t>
            </a:r>
            <a:r>
              <a:rPr lang="en-IN" sz="2400" dirty="0" err="1"/>
              <a:t>sklearn.cluster</a:t>
            </a:r>
            <a:r>
              <a:rPr lang="en-IN" sz="2400" dirty="0"/>
              <a:t> import </a:t>
            </a:r>
            <a:r>
              <a:rPr lang="en-IN" sz="2400" dirty="0" err="1"/>
              <a:t>KMeans</a:t>
            </a:r>
            <a:endParaRPr lang="en-IN" sz="2400" dirty="0"/>
          </a:p>
          <a:p>
            <a:endParaRPr lang="en-IN" sz="2400" dirty="0"/>
          </a:p>
          <a:p>
            <a:r>
              <a:rPr lang="en-IN" sz="2400" dirty="0"/>
              <a:t># Generate synthetic data</a:t>
            </a:r>
          </a:p>
          <a:p>
            <a:r>
              <a:rPr lang="en-IN" sz="2400" dirty="0" err="1"/>
              <a:t>np.random.seed</a:t>
            </a:r>
            <a:r>
              <a:rPr lang="en-IN" sz="2400" dirty="0"/>
              <a:t>(42)</a:t>
            </a:r>
          </a:p>
          <a:p>
            <a:r>
              <a:rPr lang="en-IN" sz="2400" dirty="0" err="1"/>
              <a:t>normal_data</a:t>
            </a:r>
            <a:r>
              <a:rPr lang="en-IN" sz="2400" dirty="0"/>
              <a:t> = </a:t>
            </a:r>
            <a:r>
              <a:rPr lang="en-IN" sz="2400" dirty="0" err="1"/>
              <a:t>np.random.randn</a:t>
            </a:r>
            <a:r>
              <a:rPr lang="en-IN" sz="2400" dirty="0"/>
              <a:t>(1000, 2) * 2  # Normal data points</a:t>
            </a:r>
          </a:p>
          <a:p>
            <a:r>
              <a:rPr lang="en-IN" sz="2400" dirty="0" err="1"/>
              <a:t>anomaly_data</a:t>
            </a:r>
            <a:r>
              <a:rPr lang="en-IN" sz="2400" dirty="0"/>
              <a:t> = </a:t>
            </a:r>
            <a:r>
              <a:rPr lang="en-IN" sz="2400" dirty="0" err="1"/>
              <a:t>np.random.randn</a:t>
            </a:r>
            <a:r>
              <a:rPr lang="en-IN" sz="2400" dirty="0"/>
              <a:t>(50, 2) * 10  # Anomaly data points</a:t>
            </a:r>
          </a:p>
          <a:p>
            <a:endParaRPr lang="en-IN" sz="2400" dirty="0"/>
          </a:p>
          <a:p>
            <a:r>
              <a:rPr lang="en-IN" sz="2400" dirty="0"/>
              <a:t># Combine normal and anomaly data</a:t>
            </a:r>
          </a:p>
          <a:p>
            <a:r>
              <a:rPr lang="en-IN" sz="2400" dirty="0"/>
              <a:t>data = </a:t>
            </a:r>
            <a:r>
              <a:rPr lang="en-IN" sz="2400" dirty="0" err="1"/>
              <a:t>np.vstack</a:t>
            </a:r>
            <a:r>
              <a:rPr lang="en-IN" sz="2400" dirty="0"/>
              <a:t>((</a:t>
            </a:r>
            <a:r>
              <a:rPr lang="en-IN" sz="2400" dirty="0" err="1"/>
              <a:t>normal_data</a:t>
            </a:r>
            <a:r>
              <a:rPr lang="en-IN" sz="2400" dirty="0"/>
              <a:t>, </a:t>
            </a:r>
            <a:r>
              <a:rPr lang="en-IN" sz="2400" dirty="0" err="1"/>
              <a:t>anomaly_data</a:t>
            </a:r>
            <a:r>
              <a:rPr lang="en-IN" sz="2400" dirty="0" smtClean="0"/>
              <a:t>))</a:t>
            </a:r>
          </a:p>
          <a:p>
            <a:endParaRPr lang="en-IN" sz="1600" dirty="0"/>
          </a:p>
          <a:p>
            <a:endParaRPr lang="en-IN" sz="1600" dirty="0"/>
          </a:p>
        </p:txBody>
      </p:sp>
      <p:sp>
        <p:nvSpPr>
          <p:cNvPr id="6" name="TextBox 5"/>
          <p:cNvSpPr txBox="1"/>
          <p:nvPr/>
        </p:nvSpPr>
        <p:spPr>
          <a:xfrm>
            <a:off x="2525085" y="371270"/>
            <a:ext cx="6077048" cy="461665"/>
          </a:xfrm>
          <a:prstGeom prst="rect">
            <a:avLst/>
          </a:prstGeom>
          <a:noFill/>
        </p:spPr>
        <p:txBody>
          <a:bodyPr wrap="none" rtlCol="0">
            <a:spAutoFit/>
          </a:bodyPr>
          <a:lstStyle/>
          <a:p>
            <a:r>
              <a:rPr lang="en-US" sz="2400" b="1" dirty="0" smtClean="0"/>
              <a:t>Program for Anomaly Detection using </a:t>
            </a:r>
            <a:r>
              <a:rPr lang="en-US" sz="2400" b="1" dirty="0" err="1" smtClean="0"/>
              <a:t>KMeans</a:t>
            </a:r>
            <a:endParaRPr lang="en-IN" sz="2400" b="1" dirty="0"/>
          </a:p>
        </p:txBody>
      </p:sp>
      <p:sp>
        <p:nvSpPr>
          <p:cNvPr id="7" name="TextBox 6"/>
          <p:cNvSpPr txBox="1"/>
          <p:nvPr/>
        </p:nvSpPr>
        <p:spPr>
          <a:xfrm>
            <a:off x="6985416" y="674557"/>
            <a:ext cx="4377127" cy="4339650"/>
          </a:xfrm>
          <a:prstGeom prst="rect">
            <a:avLst/>
          </a:prstGeom>
          <a:noFill/>
        </p:spPr>
        <p:txBody>
          <a:bodyPr wrap="square" rtlCol="0">
            <a:spAutoFit/>
          </a:bodyPr>
          <a:lstStyle/>
          <a:p>
            <a:endParaRPr lang="en-US" dirty="0" smtClean="0"/>
          </a:p>
          <a:p>
            <a:r>
              <a:rPr lang="en-IN" sz="2000" dirty="0" smtClean="0"/>
              <a:t># Fit K-Means model</a:t>
            </a:r>
          </a:p>
          <a:p>
            <a:r>
              <a:rPr lang="en-IN" sz="2000" dirty="0" err="1" smtClean="0"/>
              <a:t>num_clusters</a:t>
            </a:r>
            <a:r>
              <a:rPr lang="en-IN" sz="2000" dirty="0" smtClean="0"/>
              <a:t> = 5</a:t>
            </a:r>
          </a:p>
          <a:p>
            <a:r>
              <a:rPr lang="en-IN" sz="2000" dirty="0" smtClean="0"/>
              <a:t>model = </a:t>
            </a:r>
            <a:r>
              <a:rPr lang="en-IN" sz="2000" dirty="0" err="1" smtClean="0"/>
              <a:t>KMeans</a:t>
            </a:r>
            <a:r>
              <a:rPr lang="en-IN" sz="2000" dirty="0" smtClean="0"/>
              <a:t>(</a:t>
            </a:r>
            <a:r>
              <a:rPr lang="en-IN" sz="2000" dirty="0" err="1" smtClean="0"/>
              <a:t>n_clusters</a:t>
            </a:r>
            <a:r>
              <a:rPr lang="en-IN" sz="2000" dirty="0" smtClean="0"/>
              <a:t>=</a:t>
            </a:r>
            <a:r>
              <a:rPr lang="en-IN" sz="2000" dirty="0" err="1" smtClean="0"/>
              <a:t>num_clusters</a:t>
            </a:r>
            <a:r>
              <a:rPr lang="en-IN" sz="2000" dirty="0" smtClean="0"/>
              <a:t>)</a:t>
            </a:r>
          </a:p>
          <a:p>
            <a:r>
              <a:rPr lang="en-IN" sz="2000" dirty="0" smtClean="0"/>
              <a:t>model.fit(data)</a:t>
            </a:r>
          </a:p>
          <a:p>
            <a:endParaRPr lang="en-IN" sz="2000" dirty="0" smtClean="0"/>
          </a:p>
          <a:p>
            <a:r>
              <a:rPr lang="en-IN" sz="2000" dirty="0" smtClean="0"/>
              <a:t># Assign data points to clusters</a:t>
            </a:r>
          </a:p>
          <a:p>
            <a:r>
              <a:rPr lang="en-IN" sz="2000" dirty="0" err="1" smtClean="0"/>
              <a:t>cluster_labels</a:t>
            </a:r>
            <a:r>
              <a:rPr lang="en-IN" sz="2000" dirty="0" smtClean="0"/>
              <a:t> = </a:t>
            </a:r>
            <a:r>
              <a:rPr lang="en-IN" sz="2000" dirty="0" err="1" smtClean="0"/>
              <a:t>model.labels</a:t>
            </a:r>
            <a:r>
              <a:rPr lang="en-IN" sz="2000" dirty="0" smtClean="0"/>
              <a:t>_</a:t>
            </a:r>
          </a:p>
          <a:p>
            <a:endParaRPr lang="en-IN" sz="2000" dirty="0" smtClean="0"/>
          </a:p>
          <a:p>
            <a:r>
              <a:rPr lang="en-IN" sz="2000" dirty="0" smtClean="0"/>
              <a:t># Calculate cluster sizes</a:t>
            </a:r>
          </a:p>
          <a:p>
            <a:r>
              <a:rPr lang="en-IN" sz="2000" dirty="0" err="1" smtClean="0"/>
              <a:t>cluster_sizes</a:t>
            </a:r>
            <a:r>
              <a:rPr lang="en-IN" sz="2000" dirty="0" smtClean="0"/>
              <a:t> = </a:t>
            </a:r>
            <a:r>
              <a:rPr lang="en-IN" sz="2000" dirty="0" err="1" smtClean="0"/>
              <a:t>np.bincount</a:t>
            </a:r>
            <a:r>
              <a:rPr lang="en-IN" sz="2000" dirty="0" smtClean="0"/>
              <a:t>(</a:t>
            </a:r>
            <a:r>
              <a:rPr lang="en-IN" sz="2000" dirty="0" err="1" smtClean="0"/>
              <a:t>cluster_labels</a:t>
            </a:r>
            <a:r>
              <a:rPr lang="en-IN" sz="2000" dirty="0" smtClean="0"/>
              <a:t>)</a:t>
            </a:r>
          </a:p>
          <a:p>
            <a:endParaRPr lang="en-US" dirty="0"/>
          </a:p>
        </p:txBody>
      </p:sp>
    </p:spTree>
    <p:extLst>
      <p:ext uri="{BB962C8B-B14F-4D97-AF65-F5344CB8AC3E}">
        <p14:creationId xmlns="" xmlns:p14="http://schemas.microsoft.com/office/powerpoint/2010/main" val="233881119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284813"/>
            <a:ext cx="10515600" cy="6264279"/>
          </a:xfrm>
          <a:prstGeom prst="rect">
            <a:avLst/>
          </a:prstGeom>
        </p:spPr>
        <p:txBody>
          <a:bodyPr wrap="square">
            <a:spAutoFit/>
          </a:bodyPr>
          <a:lstStyle/>
          <a:p>
            <a:endParaRPr lang="en-IN" sz="1600" dirty="0"/>
          </a:p>
          <a:p>
            <a:r>
              <a:rPr lang="en-IN" sz="2000" dirty="0"/>
              <a:t># Define a threshold for cluster size to identify potential anomalies</a:t>
            </a:r>
          </a:p>
          <a:p>
            <a:r>
              <a:rPr lang="en-IN" sz="2000" dirty="0" err="1"/>
              <a:t>anomaly_threshold</a:t>
            </a:r>
            <a:r>
              <a:rPr lang="en-IN" sz="2000" dirty="0"/>
              <a:t> = </a:t>
            </a:r>
            <a:r>
              <a:rPr lang="en-IN" sz="2000" dirty="0" err="1"/>
              <a:t>np.percentile</a:t>
            </a:r>
            <a:r>
              <a:rPr lang="en-IN" sz="2000" dirty="0"/>
              <a:t>(</a:t>
            </a:r>
            <a:r>
              <a:rPr lang="en-IN" sz="2000" dirty="0" err="1"/>
              <a:t>cluster_sizes</a:t>
            </a:r>
            <a:r>
              <a:rPr lang="en-IN" sz="2000" dirty="0"/>
              <a:t>, 5)  # 5th percentile cluster size</a:t>
            </a:r>
          </a:p>
          <a:p>
            <a:endParaRPr lang="en-IN" sz="2000" dirty="0"/>
          </a:p>
          <a:p>
            <a:r>
              <a:rPr lang="en-IN" sz="2000" dirty="0"/>
              <a:t># Identify potential anomalies</a:t>
            </a:r>
          </a:p>
          <a:p>
            <a:r>
              <a:rPr lang="en-IN" sz="2000" dirty="0" err="1"/>
              <a:t>potential_anomalies</a:t>
            </a:r>
            <a:r>
              <a:rPr lang="en-IN" sz="2000" dirty="0"/>
              <a:t> = data[</a:t>
            </a:r>
            <a:r>
              <a:rPr lang="en-IN" sz="2000" dirty="0" err="1"/>
              <a:t>cluster_labels</a:t>
            </a:r>
            <a:r>
              <a:rPr lang="en-IN" sz="2000" dirty="0"/>
              <a:t>[</a:t>
            </a:r>
            <a:r>
              <a:rPr lang="en-IN" sz="2000" dirty="0" err="1"/>
              <a:t>np.where</a:t>
            </a:r>
            <a:r>
              <a:rPr lang="en-IN" sz="2000" dirty="0"/>
              <a:t>(</a:t>
            </a:r>
            <a:r>
              <a:rPr lang="en-IN" sz="2000" dirty="0" err="1"/>
              <a:t>cluster_sizes</a:t>
            </a:r>
            <a:r>
              <a:rPr lang="en-IN" sz="2000" dirty="0"/>
              <a:t> &lt;= </a:t>
            </a:r>
            <a:r>
              <a:rPr lang="en-IN" sz="2000" dirty="0" err="1"/>
              <a:t>anomaly_threshold</a:t>
            </a:r>
            <a:r>
              <a:rPr lang="en-IN" sz="2000" dirty="0"/>
              <a:t>)]]</a:t>
            </a:r>
          </a:p>
          <a:p>
            <a:endParaRPr lang="en-IN" sz="2000" dirty="0"/>
          </a:p>
          <a:p>
            <a:r>
              <a:rPr lang="en-IN" sz="2000" dirty="0"/>
              <a:t># Plot the data and potential anomalies</a:t>
            </a:r>
          </a:p>
          <a:p>
            <a:r>
              <a:rPr lang="en-IN" sz="2000" dirty="0" err="1"/>
              <a:t>plt.scatter</a:t>
            </a:r>
            <a:r>
              <a:rPr lang="en-IN" sz="2000" dirty="0"/>
              <a:t>(data[:, 0], data[:, 1], c='blue', label='Normal Data')</a:t>
            </a:r>
          </a:p>
          <a:p>
            <a:r>
              <a:rPr lang="en-IN" sz="2000" dirty="0" err="1"/>
              <a:t>plt.scatter</a:t>
            </a:r>
            <a:r>
              <a:rPr lang="en-IN" sz="2000" dirty="0"/>
              <a:t>(</a:t>
            </a:r>
            <a:r>
              <a:rPr lang="en-IN" sz="2000" dirty="0" err="1"/>
              <a:t>potential_anomalies</a:t>
            </a:r>
            <a:r>
              <a:rPr lang="en-IN" sz="2000" dirty="0"/>
              <a:t>[:, 0], </a:t>
            </a:r>
            <a:r>
              <a:rPr lang="en-IN" sz="2000" dirty="0" err="1"/>
              <a:t>potential_anomalies</a:t>
            </a:r>
            <a:r>
              <a:rPr lang="en-IN" sz="2000" dirty="0"/>
              <a:t>[:, 1], c='red', label='Potential Anomalies')</a:t>
            </a:r>
          </a:p>
          <a:p>
            <a:r>
              <a:rPr lang="en-IN" sz="2000" dirty="0" err="1"/>
              <a:t>plt.legend</a:t>
            </a:r>
            <a:r>
              <a:rPr lang="en-IN" sz="2000" dirty="0"/>
              <a:t>()</a:t>
            </a:r>
          </a:p>
          <a:p>
            <a:r>
              <a:rPr lang="en-IN" sz="2000" dirty="0" err="1"/>
              <a:t>plt.title</a:t>
            </a:r>
            <a:r>
              <a:rPr lang="en-IN" sz="2000" dirty="0"/>
              <a:t>("Anomaly Detection using K-Means")</a:t>
            </a:r>
          </a:p>
          <a:p>
            <a:r>
              <a:rPr lang="en-IN" sz="2000" dirty="0" err="1"/>
              <a:t>plt.xlabel</a:t>
            </a:r>
            <a:r>
              <a:rPr lang="en-IN" sz="2000" dirty="0"/>
              <a:t>("Feature 1")</a:t>
            </a:r>
          </a:p>
          <a:p>
            <a:r>
              <a:rPr lang="en-IN" sz="2000" dirty="0" err="1"/>
              <a:t>plt.ylabel</a:t>
            </a:r>
            <a:r>
              <a:rPr lang="en-IN" sz="2000" dirty="0"/>
              <a:t>("Feature 2")</a:t>
            </a:r>
          </a:p>
          <a:p>
            <a:r>
              <a:rPr lang="en-IN" sz="2000" dirty="0" err="1"/>
              <a:t>plt.show</a:t>
            </a:r>
            <a:r>
              <a:rPr lang="en-IN" sz="2000" dirty="0"/>
              <a: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3941"/>
          </a:xfrm>
        </p:spPr>
        <p:txBody>
          <a:bodyPr>
            <a:normAutofit fontScale="90000"/>
          </a:bodyPr>
          <a:lstStyle/>
          <a:p>
            <a:r>
              <a:rPr lang="en-US" b="1" dirty="0" smtClean="0"/>
              <a:t>Isolation Forest</a:t>
            </a:r>
            <a:endParaRPr lang="en-IN" b="1" dirty="0"/>
          </a:p>
        </p:txBody>
      </p:sp>
      <p:sp>
        <p:nvSpPr>
          <p:cNvPr id="3" name="Content Placeholder 2"/>
          <p:cNvSpPr>
            <a:spLocks noGrp="1"/>
          </p:cNvSpPr>
          <p:nvPr>
            <p:ph idx="1"/>
          </p:nvPr>
        </p:nvSpPr>
        <p:spPr>
          <a:xfrm>
            <a:off x="838200" y="1134533"/>
            <a:ext cx="10515600" cy="5042430"/>
          </a:xfrm>
        </p:spPr>
        <p:txBody>
          <a:bodyPr/>
          <a:lstStyle/>
          <a:p>
            <a:pPr algn="just"/>
            <a:r>
              <a:rPr lang="en-IN" dirty="0"/>
              <a:t>Isolation Forest is a machine learning algorithm specifically designed for anomaly detection. </a:t>
            </a:r>
            <a:endParaRPr lang="en-IN" dirty="0" smtClean="0"/>
          </a:p>
          <a:p>
            <a:pPr algn="just"/>
            <a:r>
              <a:rPr lang="en-IN" dirty="0" smtClean="0"/>
              <a:t>It </a:t>
            </a:r>
            <a:r>
              <a:rPr lang="en-IN" dirty="0"/>
              <a:t>works by isolating anomalies in a dataset using random forests. </a:t>
            </a:r>
            <a:endParaRPr lang="en-IN" dirty="0" smtClean="0"/>
          </a:p>
          <a:p>
            <a:pPr algn="just"/>
            <a:r>
              <a:rPr lang="en-IN" dirty="0" smtClean="0"/>
              <a:t>This </a:t>
            </a:r>
            <a:r>
              <a:rPr lang="en-IN" dirty="0"/>
              <a:t>algorithm is efficient and effective, particularly for high-dimensional data or data with complex patterns.</a:t>
            </a:r>
          </a:p>
        </p:txBody>
      </p:sp>
    </p:spTree>
    <p:extLst>
      <p:ext uri="{BB962C8B-B14F-4D97-AF65-F5344CB8AC3E}">
        <p14:creationId xmlns="" xmlns:p14="http://schemas.microsoft.com/office/powerpoint/2010/main" val="106424200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Algorithm</a:t>
            </a:r>
            <a:endParaRPr lang="en-IN" b="1" dirty="0"/>
          </a:p>
        </p:txBody>
      </p:sp>
      <p:sp>
        <p:nvSpPr>
          <p:cNvPr id="3" name="Content Placeholder 2"/>
          <p:cNvSpPr>
            <a:spLocks noGrp="1"/>
          </p:cNvSpPr>
          <p:nvPr>
            <p:ph idx="1"/>
          </p:nvPr>
        </p:nvSpPr>
        <p:spPr/>
        <p:txBody>
          <a:bodyPr>
            <a:normAutofit fontScale="92500" lnSpcReduction="20000"/>
          </a:bodyPr>
          <a:lstStyle/>
          <a:p>
            <a:r>
              <a:rPr lang="en-IN" b="1" dirty="0"/>
              <a:t>Isolation Concept:</a:t>
            </a:r>
            <a:endParaRPr lang="en-IN" dirty="0"/>
          </a:p>
          <a:p>
            <a:pPr lvl="1"/>
            <a:r>
              <a:rPr lang="en-IN" dirty="0"/>
              <a:t>The fundamental idea behind Isolation Forest is that anomalies are easier to isolate than normal data points. In other words, anomalies require fewer partitions to be separated from the rest of the data.</a:t>
            </a:r>
          </a:p>
          <a:p>
            <a:r>
              <a:rPr lang="en-IN" b="1" dirty="0"/>
              <a:t>Random Partitioning:</a:t>
            </a:r>
            <a:endParaRPr lang="en-IN" dirty="0"/>
          </a:p>
          <a:p>
            <a:pPr lvl="1"/>
            <a:r>
              <a:rPr lang="en-IN" dirty="0"/>
              <a:t>Isolation Forest randomly selects a feature and a random split value within the range of that feature for each decision tree it builds.</a:t>
            </a:r>
          </a:p>
          <a:p>
            <a:r>
              <a:rPr lang="en-IN" b="1" dirty="0"/>
              <a:t>Tree Construction:</a:t>
            </a:r>
            <a:endParaRPr lang="en-IN" dirty="0"/>
          </a:p>
          <a:p>
            <a:pPr lvl="1"/>
            <a:r>
              <a:rPr lang="en-IN" dirty="0"/>
              <a:t>The algorithm constructs a forest of isolation trees. Each tree is grown recursively by partitioning the data into subsets using the random splits mentioned earlier.</a:t>
            </a:r>
          </a:p>
          <a:p>
            <a:r>
              <a:rPr lang="en-IN" b="1" dirty="0"/>
              <a:t>Scoring Anomalies:</a:t>
            </a:r>
            <a:endParaRPr lang="en-IN" dirty="0"/>
          </a:p>
          <a:p>
            <a:pPr lvl="1"/>
            <a:r>
              <a:rPr lang="en-IN" dirty="0"/>
              <a:t>Anomalies have shorter average path lengths within the trees compared to normal data points. The path length is the number of edges traversed to isolate a data point. Anomalies are isolated faster, leading to shorter path lengths.</a:t>
            </a:r>
          </a:p>
          <a:p>
            <a:endParaRPr lang="en-IN" sz="1800" dirty="0"/>
          </a:p>
        </p:txBody>
      </p:sp>
    </p:spTree>
    <p:extLst>
      <p:ext uri="{BB962C8B-B14F-4D97-AF65-F5344CB8AC3E}">
        <p14:creationId xmlns="" xmlns:p14="http://schemas.microsoft.com/office/powerpoint/2010/main" val="8998972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Anomaly Score:</a:t>
            </a:r>
            <a:endParaRPr lang="en-IN" dirty="0"/>
          </a:p>
          <a:p>
            <a:pPr lvl="1"/>
            <a:r>
              <a:rPr lang="en-IN" dirty="0"/>
              <a:t>The anomaly score for a data point is the average path length across all the trees in the forest. This score reflects how easily the point can be separated from the rest.</a:t>
            </a:r>
          </a:p>
          <a:p>
            <a:r>
              <a:rPr lang="en-IN" b="1" dirty="0"/>
              <a:t>Detection Threshold:</a:t>
            </a:r>
            <a:endParaRPr lang="en-IN" dirty="0"/>
          </a:p>
          <a:p>
            <a:pPr lvl="1"/>
            <a:r>
              <a:rPr lang="en-IN" dirty="0"/>
              <a:t>Anomalies tend to have lower anomaly scores compared to normal data points. By setting a threshold on the anomaly score, you can classify data points as anomalies if their scores are below the threshold.</a:t>
            </a:r>
          </a:p>
          <a:p>
            <a:endParaRPr lang="en-IN" dirty="0"/>
          </a:p>
        </p:txBody>
      </p:sp>
    </p:spTree>
    <p:extLst>
      <p:ext uri="{BB962C8B-B14F-4D97-AF65-F5344CB8AC3E}">
        <p14:creationId xmlns="" xmlns:p14="http://schemas.microsoft.com/office/powerpoint/2010/main" val="8297322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02688"/>
            <a:ext cx="6096000" cy="4339650"/>
          </a:xfrm>
          <a:prstGeom prst="rect">
            <a:avLst/>
          </a:prstGeom>
        </p:spPr>
        <p:txBody>
          <a:bodyPr>
            <a:spAutoFit/>
          </a:bodyPr>
          <a:lstStyle/>
          <a:p>
            <a:r>
              <a:rPr lang="en-IN" sz="2400" dirty="0"/>
              <a:t>import </a:t>
            </a:r>
            <a:r>
              <a:rPr lang="en-IN" sz="2400" dirty="0" err="1"/>
              <a:t>numpy</a:t>
            </a:r>
            <a:r>
              <a:rPr lang="en-IN" sz="2400" dirty="0"/>
              <a:t> as </a:t>
            </a:r>
            <a:r>
              <a:rPr lang="en-IN" sz="2400" dirty="0" err="1"/>
              <a:t>np</a:t>
            </a:r>
            <a:endParaRPr lang="en-IN" sz="2400" dirty="0"/>
          </a:p>
          <a:p>
            <a:r>
              <a:rPr lang="en-IN" sz="2400" dirty="0"/>
              <a:t>import </a:t>
            </a:r>
            <a:r>
              <a:rPr lang="en-IN" sz="2400" dirty="0" err="1"/>
              <a:t>matplotlib.pyplot</a:t>
            </a:r>
            <a:r>
              <a:rPr lang="en-IN" sz="2400" dirty="0"/>
              <a:t> as </a:t>
            </a:r>
            <a:r>
              <a:rPr lang="en-IN" sz="2400" dirty="0" err="1"/>
              <a:t>plt</a:t>
            </a:r>
            <a:endParaRPr lang="en-IN" sz="2400" dirty="0"/>
          </a:p>
          <a:p>
            <a:r>
              <a:rPr lang="en-IN" sz="2400" dirty="0"/>
              <a:t>from </a:t>
            </a:r>
            <a:r>
              <a:rPr lang="en-IN" sz="2400" dirty="0" err="1"/>
              <a:t>sklearn.ensemble</a:t>
            </a:r>
            <a:r>
              <a:rPr lang="en-IN" sz="2400" dirty="0"/>
              <a:t> import </a:t>
            </a:r>
            <a:r>
              <a:rPr lang="en-IN" sz="2400" dirty="0" err="1"/>
              <a:t>IsolationForest</a:t>
            </a:r>
            <a:endParaRPr lang="en-IN" sz="2400" dirty="0"/>
          </a:p>
          <a:p>
            <a:endParaRPr lang="en-IN" sz="2400" dirty="0"/>
          </a:p>
          <a:p>
            <a:r>
              <a:rPr lang="en-IN" sz="2400" dirty="0"/>
              <a:t># Generate synthetic data</a:t>
            </a:r>
          </a:p>
          <a:p>
            <a:r>
              <a:rPr lang="en-IN" sz="2400" dirty="0" err="1"/>
              <a:t>np.random.seed</a:t>
            </a:r>
            <a:r>
              <a:rPr lang="en-IN" sz="2400" dirty="0"/>
              <a:t>(42)</a:t>
            </a:r>
          </a:p>
          <a:p>
            <a:r>
              <a:rPr lang="en-IN" sz="2400" dirty="0" err="1"/>
              <a:t>normal_data</a:t>
            </a:r>
            <a:r>
              <a:rPr lang="en-IN" sz="2400" dirty="0"/>
              <a:t> = </a:t>
            </a:r>
            <a:r>
              <a:rPr lang="en-IN" sz="2400" dirty="0" err="1"/>
              <a:t>np.random.randn</a:t>
            </a:r>
            <a:r>
              <a:rPr lang="en-IN" sz="2400" dirty="0"/>
              <a:t>(1000, 2) * 2  # Normal data points</a:t>
            </a:r>
          </a:p>
          <a:p>
            <a:r>
              <a:rPr lang="en-IN" sz="2400" dirty="0" err="1"/>
              <a:t>anomaly_data</a:t>
            </a:r>
            <a:r>
              <a:rPr lang="en-IN" sz="2400" dirty="0"/>
              <a:t> = </a:t>
            </a:r>
            <a:r>
              <a:rPr lang="en-IN" sz="2400" dirty="0" err="1"/>
              <a:t>np.random.randn</a:t>
            </a:r>
            <a:r>
              <a:rPr lang="en-IN" sz="2400" dirty="0"/>
              <a:t>(50, 2) * 10  # Anomaly data points</a:t>
            </a:r>
          </a:p>
          <a:p>
            <a:endParaRPr lang="en-IN" dirty="0"/>
          </a:p>
          <a:p>
            <a:endParaRPr lang="en-IN" dirty="0"/>
          </a:p>
        </p:txBody>
      </p:sp>
      <p:sp>
        <p:nvSpPr>
          <p:cNvPr id="6" name="TextBox 5"/>
          <p:cNvSpPr txBox="1"/>
          <p:nvPr/>
        </p:nvSpPr>
        <p:spPr>
          <a:xfrm>
            <a:off x="3496734" y="611201"/>
            <a:ext cx="6296788" cy="523220"/>
          </a:xfrm>
          <a:prstGeom prst="rect">
            <a:avLst/>
          </a:prstGeom>
          <a:noFill/>
        </p:spPr>
        <p:txBody>
          <a:bodyPr wrap="none" rtlCol="0">
            <a:spAutoFit/>
          </a:bodyPr>
          <a:lstStyle/>
          <a:p>
            <a:r>
              <a:rPr lang="en-US" sz="2800" b="1" dirty="0" smtClean="0"/>
              <a:t>Anomaly Detection using Isolation Forest</a:t>
            </a:r>
            <a:endParaRPr lang="en-IN" sz="2800" b="1" dirty="0"/>
          </a:p>
        </p:txBody>
      </p:sp>
      <p:sp>
        <p:nvSpPr>
          <p:cNvPr id="7" name="TextBox 6"/>
          <p:cNvSpPr txBox="1"/>
          <p:nvPr/>
        </p:nvSpPr>
        <p:spPr>
          <a:xfrm>
            <a:off x="7030387" y="1364105"/>
            <a:ext cx="4781862" cy="4062651"/>
          </a:xfrm>
          <a:prstGeom prst="rect">
            <a:avLst/>
          </a:prstGeom>
          <a:noFill/>
        </p:spPr>
        <p:txBody>
          <a:bodyPr wrap="square" rtlCol="0">
            <a:spAutoFit/>
          </a:bodyPr>
          <a:lstStyle/>
          <a:p>
            <a:r>
              <a:rPr lang="en-IN" sz="2400" dirty="0" smtClean="0"/>
              <a:t># Combine normal and anomaly data</a:t>
            </a:r>
          </a:p>
          <a:p>
            <a:r>
              <a:rPr lang="en-IN" sz="2400" dirty="0" smtClean="0"/>
              <a:t>data = </a:t>
            </a:r>
            <a:r>
              <a:rPr lang="en-IN" sz="2400" dirty="0" err="1" smtClean="0"/>
              <a:t>np.vstack</a:t>
            </a:r>
            <a:r>
              <a:rPr lang="en-IN" sz="2400" dirty="0" smtClean="0"/>
              <a:t>((</a:t>
            </a:r>
            <a:r>
              <a:rPr lang="en-IN" sz="2400" dirty="0" err="1" smtClean="0"/>
              <a:t>normal_data</a:t>
            </a:r>
            <a:r>
              <a:rPr lang="en-IN" sz="2400" dirty="0" smtClean="0"/>
              <a:t>, </a:t>
            </a:r>
            <a:r>
              <a:rPr lang="en-IN" sz="2400" dirty="0" err="1" smtClean="0"/>
              <a:t>anomaly_data</a:t>
            </a:r>
            <a:r>
              <a:rPr lang="en-IN" sz="2400" dirty="0" smtClean="0"/>
              <a:t>))</a:t>
            </a:r>
          </a:p>
          <a:p>
            <a:endParaRPr lang="en-IN" sz="2400" dirty="0" smtClean="0"/>
          </a:p>
          <a:p>
            <a:r>
              <a:rPr lang="en-IN" sz="2400" dirty="0" smtClean="0"/>
              <a:t># Fit Isolation Forest model</a:t>
            </a:r>
          </a:p>
          <a:p>
            <a:r>
              <a:rPr lang="en-IN" sz="2400" dirty="0" smtClean="0"/>
              <a:t>model = </a:t>
            </a:r>
            <a:r>
              <a:rPr lang="en-IN" sz="2400" dirty="0" err="1" smtClean="0"/>
              <a:t>IsolationForest</a:t>
            </a:r>
            <a:r>
              <a:rPr lang="en-IN" sz="2400" dirty="0" smtClean="0"/>
              <a:t>(contamination=0.05)  # Contamination parameter sets expected proportion of anomalies</a:t>
            </a:r>
          </a:p>
          <a:p>
            <a:r>
              <a:rPr lang="en-IN" sz="2400" dirty="0" smtClean="0"/>
              <a:t>model.fit(data)</a:t>
            </a:r>
          </a:p>
          <a:p>
            <a:endParaRPr lang="en-US" dirty="0"/>
          </a:p>
        </p:txBody>
      </p:sp>
    </p:spTree>
    <p:extLst>
      <p:ext uri="{BB962C8B-B14F-4D97-AF65-F5344CB8AC3E}">
        <p14:creationId xmlns="" xmlns:p14="http://schemas.microsoft.com/office/powerpoint/2010/main" val="29562695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IN" dirty="0" smtClean="0"/>
              <a:t># Predict anomalies</a:t>
            </a:r>
          </a:p>
          <a:p>
            <a:r>
              <a:rPr lang="en-IN" dirty="0" smtClean="0"/>
              <a:t>predictions = </a:t>
            </a:r>
            <a:r>
              <a:rPr lang="en-IN" dirty="0" err="1" smtClean="0"/>
              <a:t>model.predict</a:t>
            </a:r>
            <a:r>
              <a:rPr lang="en-IN" dirty="0" smtClean="0"/>
              <a:t>(data)</a:t>
            </a:r>
          </a:p>
          <a:p>
            <a:endParaRPr lang="en-IN" dirty="0" smtClean="0"/>
          </a:p>
          <a:p>
            <a:r>
              <a:rPr lang="en-IN" dirty="0" smtClean="0"/>
              <a:t># Plot the data and detected anomalies</a:t>
            </a:r>
          </a:p>
          <a:p>
            <a:r>
              <a:rPr lang="en-IN" dirty="0" err="1" smtClean="0"/>
              <a:t>plt.scatter</a:t>
            </a:r>
            <a:r>
              <a:rPr lang="en-IN" dirty="0" smtClean="0"/>
              <a:t>(data[:, 0], data[:, 1], c=predictions, </a:t>
            </a:r>
            <a:r>
              <a:rPr lang="en-IN" dirty="0" err="1" smtClean="0"/>
              <a:t>cmap</a:t>
            </a:r>
            <a:r>
              <a:rPr lang="en-IN" dirty="0" smtClean="0"/>
              <a:t>=</a:t>
            </a:r>
            <a:r>
              <a:rPr lang="en-IN" dirty="0" err="1" smtClean="0"/>
              <a:t>plt.cm.Paired</a:t>
            </a:r>
            <a:r>
              <a:rPr lang="en-IN" dirty="0" smtClean="0"/>
              <a:t>)</a:t>
            </a:r>
          </a:p>
          <a:p>
            <a:r>
              <a:rPr lang="en-IN" dirty="0" err="1" smtClean="0"/>
              <a:t>plt.title</a:t>
            </a:r>
            <a:r>
              <a:rPr lang="en-IN" dirty="0" smtClean="0"/>
              <a:t>("Anomaly Detection using Isolation Forest")</a:t>
            </a:r>
          </a:p>
          <a:p>
            <a:r>
              <a:rPr lang="en-IN" dirty="0" err="1" smtClean="0"/>
              <a:t>plt.xlabel</a:t>
            </a:r>
            <a:r>
              <a:rPr lang="en-IN" dirty="0" smtClean="0"/>
              <a:t>("Feature 1")</a:t>
            </a:r>
          </a:p>
          <a:p>
            <a:r>
              <a:rPr lang="en-IN" dirty="0" err="1" smtClean="0"/>
              <a:t>plt.ylabel</a:t>
            </a:r>
            <a:r>
              <a:rPr lang="en-IN" dirty="0" smtClean="0"/>
              <a:t>("Feature 2")</a:t>
            </a:r>
          </a:p>
          <a:p>
            <a:r>
              <a:rPr lang="en-IN" dirty="0" err="1" smtClean="0"/>
              <a:t>plt.show</a:t>
            </a:r>
            <a:r>
              <a:rPr lang="en-IN" dirty="0" smtClean="0"/>
              <a:t>()</a:t>
            </a:r>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0709"/>
            <a:ext cx="10515600" cy="5406254"/>
          </a:xfrm>
        </p:spPr>
        <p:txBody>
          <a:bodyPr/>
          <a:lstStyle/>
          <a:p>
            <a:r>
              <a:rPr lang="en-US" dirty="0" smtClean="0"/>
              <a:t>Write a program to </a:t>
            </a:r>
            <a:r>
              <a:rPr lang="en-US" smtClean="0"/>
              <a:t>detect anomalies </a:t>
            </a:r>
            <a:r>
              <a:rPr lang="en-US" dirty="0" smtClean="0"/>
              <a:t>in iris dataset using Isolation Forest.</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7C369D4E-5EED-4CA1-892D-DE7831071F28}"/>
              </a:ext>
            </a:extLst>
          </p:cNvPr>
          <p:cNvSpPr/>
          <p:nvPr/>
        </p:nvSpPr>
        <p:spPr>
          <a:xfrm>
            <a:off x="4399574" y="2967335"/>
            <a:ext cx="3392853"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Thank you!</a:t>
            </a:r>
          </a:p>
        </p:txBody>
      </p:sp>
    </p:spTree>
    <p:extLst>
      <p:ext uri="{BB962C8B-B14F-4D97-AF65-F5344CB8AC3E}">
        <p14:creationId xmlns="" xmlns:p14="http://schemas.microsoft.com/office/powerpoint/2010/main" val="3650270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TotalTime>
  <Words>1174</Words>
  <Application>Microsoft Office PowerPoint</Application>
  <PresentationFormat>Custom</PresentationFormat>
  <Paragraphs>144</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Unit: 2 (Machine learning clustering algorithms-II)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Gaussian Distribution</vt:lpstr>
      <vt:lpstr>Slide 34</vt:lpstr>
      <vt:lpstr>Gaussian Distribution Anomaly Detection Algorithm: Let us consider that there are m data-points (instances) each with n selected features. The Mean parameter for each feature (j = 1 to n) is fit. The Variance parameter for each feature (j = 1 to n) is fit. Given a new data-point, x = {x_1, x_2, … , x_j}, p(x) is given by, or, Now, a threshold parameter, ε is selected such that, if p(x) &lt; ε: # x is an ANOMALY or OUTLIER !!!! else: # x is NOT an ANOMALY or OUTLIER !!!! </vt:lpstr>
      <vt:lpstr>Slide 36</vt:lpstr>
      <vt:lpstr>Slide 37</vt:lpstr>
      <vt:lpstr>Slide 38</vt:lpstr>
      <vt:lpstr>Slide 39</vt:lpstr>
      <vt:lpstr>Slide 40</vt:lpstr>
      <vt:lpstr>Isolation Forest</vt:lpstr>
      <vt:lpstr>Algorithm</vt:lpstr>
      <vt:lpstr>Slide 43</vt:lpstr>
      <vt:lpstr>Slide 44</vt:lpstr>
      <vt:lpstr>Slide 45</vt:lpstr>
      <vt:lpstr>Slide 46</vt:lpstr>
      <vt:lpstr>Slide 47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(Machine learning clustering algorithms-II)</dc:title>
  <dc:creator>Ramanjot</dc:creator>
  <cp:lastModifiedBy>Ankita</cp:lastModifiedBy>
  <cp:revision>22</cp:revision>
  <dcterms:created xsi:type="dcterms:W3CDTF">2023-08-15T11:46:02Z</dcterms:created>
  <dcterms:modified xsi:type="dcterms:W3CDTF">2023-08-18T06:13:12Z</dcterms:modified>
</cp:coreProperties>
</file>